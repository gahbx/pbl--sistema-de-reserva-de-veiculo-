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274320" y="109728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Board Tutoria UNDB PBL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292608" y="566928"/>
            <a:ext cx="8686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23C4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5623C4"/>
                </a:solidFill>
                <a:latin typeface="Arial"/>
                <a:ea typeface="Arial"/>
                <a:cs typeface="Arial"/>
                <a:sym typeface="Arial"/>
              </a:rPr>
              <a:t>Problema 1 — </a:t>
            </a:r>
            <a:r>
              <a:rPr i="1" lang="en-US" sz="1300">
                <a:solidFill>
                  <a:srgbClr val="5623C4"/>
                </a:solidFill>
              </a:rPr>
              <a:t>Reserva de veiculos.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10424160" y="109728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21D79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D21D79"/>
                </a:solidFill>
                <a:latin typeface="Arial"/>
                <a:ea typeface="Arial"/>
                <a:cs typeface="Arial"/>
                <a:sym typeface="Arial"/>
              </a:rPr>
              <a:t>UNDB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9692640" y="475488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9AA0B5"/>
                </a:solidFill>
                <a:latin typeface="Arial"/>
                <a:ea typeface="Arial"/>
                <a:cs typeface="Arial"/>
                <a:sym typeface="Arial"/>
              </a:rPr>
              <a:t>CENTRO UNIVERSITÁRIO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274320" y="868680"/>
            <a:ext cx="1847088" cy="5760720"/>
          </a:xfrm>
          <a:prstGeom prst="roundRect">
            <a:avLst>
              <a:gd fmla="val 4455" name="adj"/>
            </a:avLst>
          </a:prstGeom>
          <a:solidFill>
            <a:srgbClr val="F0F2FF"/>
          </a:solidFill>
          <a:ln>
            <a:noFill/>
          </a:ln>
          <a:effectLst>
            <a:outerShdw blurRad="76200" rotWithShape="0" algn="bl" dir="5400000" dist="25400">
              <a:srgbClr val="9AA0B5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274320" y="868680"/>
            <a:ext cx="1847088" cy="402336"/>
          </a:xfrm>
          <a:prstGeom prst="roundRect">
            <a:avLst>
              <a:gd fmla="val 22727" name="adj"/>
            </a:avLst>
          </a:prstGeom>
          <a:solidFill>
            <a:srgbClr val="41A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365760" y="868680"/>
            <a:ext cx="1700784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 Termos desconhecidos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02336" y="1380744"/>
            <a:ext cx="1591056" cy="5157216"/>
          </a:xfrm>
          <a:prstGeom prst="rect">
            <a:avLst/>
          </a:prstGeom>
          <a:noFill/>
          <a:ln>
            <a:noFill/>
          </a:ln>
        </p:spPr>
        <p:txBody>
          <a:bodyPr anchorCtr="0" anchor="t" bIns="36576" lIns="36576" spcFirstLastPara="1" rIns="36576" wrap="square" tIns="36576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200"/>
              </a:spcAft>
              <a:buClr>
                <a:srgbClr val="2B2B3A"/>
              </a:buClr>
              <a:buSzPts val="1050"/>
              <a:buFont typeface="Arial"/>
              <a:buChar char="•"/>
            </a:pPr>
            <a:r>
              <a:rPr b="1" sz="750">
                <a:solidFill>
                  <a:srgbClr val="0F2B48"/>
                </a:solidFill>
              </a:rPr>
              <a:t> COSEG: </a:t>
            </a:r>
            <a:r>
              <a:rPr b="0" sz="750">
                <a:solidFill>
                  <a:srgbClr val="334155"/>
                </a:solidFill>
              </a:rPr>
              <a:t>Coordenação de Segurança e Serviços Gerais do Porto do Itaqui.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b="1" sz="750">
                <a:solidFill>
                  <a:srgbClr val="0F2B48"/>
                </a:solidFill>
              </a:rPr>
              <a:t> Porto do Itaqui: </a:t>
            </a:r>
            <a:r>
              <a:rPr b="0" sz="750">
                <a:solidFill>
                  <a:srgbClr val="334155"/>
                </a:solidFill>
              </a:rPr>
              <a:t>Complexo portuário público em São Luís (MA) com alta demanda operacional.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b="1" sz="750">
                <a:solidFill>
                  <a:srgbClr val="0F2B48"/>
                </a:solidFill>
              </a:rPr>
              <a:t> Frota Compartilhada: </a:t>
            </a:r>
            <a:r>
              <a:rPr b="0" sz="750">
                <a:solidFill>
                  <a:srgbClr val="334155"/>
                </a:solidFill>
              </a:rPr>
              <a:t>10 veículos corporativos utilizados sob demanda por vários setores.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b="1" sz="750">
                <a:solidFill>
                  <a:srgbClr val="0F2B48"/>
                </a:solidFill>
              </a:rPr>
              <a:t> Sobreposição: </a:t>
            </a:r>
            <a:r>
              <a:rPr b="0" sz="750">
                <a:solidFill>
                  <a:srgbClr val="334155"/>
                </a:solidFill>
              </a:rPr>
              <a:t>Interseção temporal onde duas reservas ocupam o mesmo veículo no mesmo horário.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b="1" sz="750">
                <a:solidFill>
                  <a:srgbClr val="0F2B48"/>
                </a:solidFill>
              </a:rPr>
              <a:t> Django ORM: </a:t>
            </a:r>
            <a:r>
              <a:rPr b="0" sz="750">
                <a:solidFill>
                  <a:srgbClr val="334155"/>
                </a:solidFill>
              </a:rPr>
              <a:t>Mapeador Objeto-Relacional que traduz classes Python em SQL relacional.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b="1" sz="750">
                <a:solidFill>
                  <a:srgbClr val="0F2B48"/>
                </a:solidFill>
              </a:rPr>
              <a:t> Migrations: </a:t>
            </a:r>
            <a:r>
              <a:rPr b="0" sz="750">
                <a:solidFill>
                  <a:srgbClr val="334155"/>
                </a:solidFill>
              </a:rPr>
              <a:t>Mecanismo de versionamento e aplicação de schemas no banco SQLite.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b="1" sz="750">
                <a:solidFill>
                  <a:srgbClr val="0F2B48"/>
                </a:solidFill>
              </a:rPr>
              <a:t> CRUD: </a:t>
            </a:r>
            <a:r>
              <a:rPr b="0" sz="750">
                <a:solidFill>
                  <a:srgbClr val="334155"/>
                </a:solidFill>
              </a:rPr>
              <a:t>Quatro operações fundamentais de persistência: Create, Read, Update, Delete.</a:t>
            </a:r>
          </a:p>
        </p:txBody>
      </p:sp>
      <p:sp>
        <p:nvSpPr>
          <p:cNvPr id="24" name="Google Shape;24;p3"/>
          <p:cNvSpPr/>
          <p:nvPr/>
        </p:nvSpPr>
        <p:spPr>
          <a:xfrm>
            <a:off x="2212848" y="868680"/>
            <a:ext cx="2011680" cy="5760720"/>
          </a:xfrm>
          <a:prstGeom prst="roundRect">
            <a:avLst>
              <a:gd fmla="val 4091" name="adj"/>
            </a:avLst>
          </a:prstGeom>
          <a:solidFill>
            <a:srgbClr val="FFF9D9"/>
          </a:solidFill>
          <a:ln>
            <a:noFill/>
          </a:ln>
          <a:effectLst>
            <a:outerShdw blurRad="76200" rotWithShape="0" algn="bl" dir="5400000" dist="25400">
              <a:srgbClr val="9AA0B5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2212848" y="868680"/>
            <a:ext cx="2011680" cy="402336"/>
          </a:xfrm>
          <a:prstGeom prst="roundRect">
            <a:avLst>
              <a:gd fmla="val 22727" name="adj"/>
            </a:avLst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2304288" y="868680"/>
            <a:ext cx="186537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 Conceitos confusos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2340864" y="1380744"/>
            <a:ext cx="1755648" cy="5157216"/>
          </a:xfrm>
          <a:prstGeom prst="rect">
            <a:avLst/>
          </a:prstGeom>
          <a:noFill/>
          <a:ln>
            <a:noFill/>
          </a:ln>
        </p:spPr>
        <p:txBody>
          <a:bodyPr anchorCtr="0" anchor="t" bIns="36576" lIns="36576" spcFirstLastPara="1" rIns="36576" wrap="square" tIns="36576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200"/>
              </a:spcAft>
              <a:buClr>
                <a:srgbClr val="2B2B3A"/>
              </a:buClr>
              <a:buSzPts val="1050"/>
              <a:buFont typeface="Arial"/>
              <a:buChar char="•"/>
            </a:pPr>
            <a:r>
              <a:rPr b="1" sz="750">
                <a:solidFill>
                  <a:srgbClr val="0F2B48"/>
                </a:solidFill>
              </a:rPr>
              <a:t> Validação Servidor vs Front: </a:t>
            </a:r>
            <a:r>
              <a:rPr b="0" sz="750">
                <a:solidFill>
                  <a:srgbClr val="334155"/>
                </a:solidFill>
              </a:rPr>
              <a:t>O front-end orienta o usuário; o servidor back-end é a fonte única da verdade.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b="1" sz="750">
                <a:solidFill>
                  <a:srgbClr val="0F2B48"/>
                </a:solidFill>
              </a:rPr>
              <a:t> Intervalo vs Saída: </a:t>
            </a:r>
            <a:r>
              <a:rPr b="0" sz="750">
                <a:solidFill>
                  <a:srgbClr val="334155"/>
                </a:solidFill>
              </a:rPr>
              <a:t>Controlar todo o ciclo (saída e retorno) evita alocar carros antes da volta real.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b="1" sz="750">
                <a:solidFill>
                  <a:srgbClr val="0F2B48"/>
                </a:solidFill>
              </a:rPr>
              <a:t> Teto vs Lotação do Veículo: </a:t>
            </a:r>
            <a:r>
              <a:rPr b="0" sz="750">
                <a:solidFill>
                  <a:srgbClr val="334155"/>
                </a:solidFill>
              </a:rPr>
              <a:t>Sistema aceita até 18 vagas (vans), mas carro leve só comporta até 4 pessoas.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b="1" sz="750">
                <a:solidFill>
                  <a:srgbClr val="0F2B48"/>
                </a:solidFill>
              </a:rPr>
              <a:t> makemigrations vs migrate: </a:t>
            </a:r>
            <a:r>
              <a:rPr b="0" sz="750">
                <a:solidFill>
                  <a:srgbClr val="334155"/>
                </a:solidFill>
              </a:rPr>
              <a:t>makemigrations cria o script de alterações; migrate executa o SQL no banco.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b="1" sz="750">
                <a:solidFill>
                  <a:srgbClr val="0F2B48"/>
                </a:solidFill>
              </a:rPr>
              <a:t> Model vs Tabela: </a:t>
            </a:r>
            <a:r>
              <a:rPr b="0" sz="750">
                <a:solidFill>
                  <a:srgbClr val="334155"/>
                </a:solidFill>
              </a:rPr>
              <a:t>Model é a classe Python orientada a objetos; Tabela é a estrutura no SQLite.</a:t>
            </a:r>
          </a:p>
        </p:txBody>
      </p:sp>
      <p:sp>
        <p:nvSpPr>
          <p:cNvPr id="28" name="Google Shape;28;p3"/>
          <p:cNvSpPr/>
          <p:nvPr/>
        </p:nvSpPr>
        <p:spPr>
          <a:xfrm>
            <a:off x="4315968" y="868680"/>
            <a:ext cx="2670048" cy="1847088"/>
          </a:xfrm>
          <a:prstGeom prst="roundRect">
            <a:avLst>
              <a:gd fmla="val 4455" name="adj"/>
            </a:avLst>
          </a:prstGeom>
          <a:solidFill>
            <a:srgbClr val="E8F8ED"/>
          </a:solidFill>
          <a:ln>
            <a:noFill/>
          </a:ln>
          <a:effectLst>
            <a:outerShdw blurRad="76200" rotWithShape="0" algn="bl" dir="5400000" dist="25400">
              <a:srgbClr val="9AA0B5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4315968" y="868680"/>
            <a:ext cx="2576779" cy="402336"/>
          </a:xfrm>
          <a:prstGeom prst="roundRect">
            <a:avLst>
              <a:gd fmla="val 22727" name="adj"/>
            </a:avLst>
          </a:prstGeom>
          <a:solidFill>
            <a:srgbClr val="43C4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4407408" y="868680"/>
            <a:ext cx="2430475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 Explicação resumida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4443984" y="1380744"/>
            <a:ext cx="2414016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36576" lIns="36576" spcFirstLastPara="1" rIns="36576" wrap="square" tIns="36576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>
                <a:srgbClr val="2B2B3A"/>
              </a:buClr>
              <a:buSzPts val="1080"/>
              <a:buFont typeface="Arial"/>
              <a:buNone/>
            </a:pPr>
            <a:r>
              <a:rPr b="1" sz="800">
                <a:solidFill>
                  <a:srgbClr val="0F2B48"/>
                </a:solidFill>
              </a:rPr>
              <a:t> Cenário: </a:t>
            </a:r>
            <a:r>
              <a:rPr b="0" sz="800">
                <a:solidFill>
                  <a:srgbClr val="334155"/>
                </a:solidFill>
              </a:rPr>
              <a:t>O Porto do Itaqui possui intensa rotina operacional e frota finita de 10 veículos (8 leves de 4 lugares e 2 coletivos de 18 lugares).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b="1" sz="800">
                <a:solidFill>
                  <a:srgbClr val="0F2B48"/>
                </a:solidFill>
              </a:rPr>
              <a:t> Contexto: </a:t>
            </a:r>
            <a:r>
              <a:rPr b="0" sz="800">
                <a:solidFill>
                  <a:srgbClr val="334155"/>
                </a:solidFill>
              </a:rPr>
              <a:t>Pedidos fragmentados (por telefone, e-mail e mensagens) anotados em planilhas sem padrão causaram conflitos de agenda e atrasos.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b="1" sz="800">
                <a:solidFill>
                  <a:srgbClr val="0F2B48"/>
                </a:solidFill>
              </a:rPr>
              <a:t> Objetivo: </a:t>
            </a:r>
            <a:r>
              <a:rPr b="0" sz="800">
                <a:solidFill>
                  <a:srgbClr val="334155"/>
                </a:solidFill>
              </a:rPr>
              <a:t>Construir a camada de servidor Django com banco centralizado, regras no back-end e rotas de integração para o PBL 2.</a:t>
            </a:r>
          </a:p>
        </p:txBody>
      </p:sp>
      <p:sp>
        <p:nvSpPr>
          <p:cNvPr id="32" name="Google Shape;32;p3"/>
          <p:cNvSpPr/>
          <p:nvPr/>
        </p:nvSpPr>
        <p:spPr>
          <a:xfrm>
            <a:off x="7168896" y="868680"/>
            <a:ext cx="3703320" cy="1847088"/>
          </a:xfrm>
          <a:prstGeom prst="roundRect">
            <a:avLst>
              <a:gd fmla="val 4455" name="adj"/>
            </a:avLst>
          </a:prstGeom>
          <a:solidFill>
            <a:srgbClr val="F7DFEC"/>
          </a:solidFill>
          <a:ln>
            <a:noFill/>
          </a:ln>
          <a:effectLst>
            <a:outerShdw blurRad="76200" rotWithShape="0" algn="bl" dir="5400000" dist="25400">
              <a:srgbClr val="9AA0B5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7168896" y="868680"/>
            <a:ext cx="2280514" cy="402336"/>
          </a:xfrm>
          <a:prstGeom prst="roundRect">
            <a:avLst>
              <a:gd fmla="val 22727" name="adj"/>
            </a:avLst>
          </a:prstGeom>
          <a:solidFill>
            <a:srgbClr val="D21D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7260336" y="868680"/>
            <a:ext cx="213421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 Problema central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7296912" y="1380744"/>
            <a:ext cx="3447288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36576" lIns="36576" spcFirstLastPara="1" rIns="36576" wrap="square" tIns="36576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>
                <a:srgbClr val="2B2B3A"/>
              </a:buClr>
              <a:buSzPts val="1080"/>
              <a:buFont typeface="Arial"/>
              <a:buNone/>
            </a:pPr>
            <a:r>
              <a:rPr b="1" sz="850">
                <a:solidFill>
                  <a:srgbClr val="0F2B48"/>
                </a:solidFill>
              </a:rPr>
              <a:t> Definição: </a:t>
            </a:r>
            <a:r>
              <a:rPr b="0" sz="850">
                <a:solidFill>
                  <a:srgbClr val="334155"/>
                </a:solidFill>
              </a:rPr>
              <a:t>Inexistência de um sistema computacional centralizado, confiável e automatizado para gestão da frota do COSEG, resultando em registros dispersos, conflitos de horário, dimensionamento inadequado de veículos e atrasos operacionais no Porto do Itaqui.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4315968" y="2834640"/>
            <a:ext cx="2670048" cy="2542032"/>
          </a:xfrm>
          <a:prstGeom prst="roundRect">
            <a:avLst>
              <a:gd fmla="val 3237" name="adj"/>
            </a:avLst>
          </a:prstGeom>
          <a:solidFill>
            <a:srgbClr val="F0F2FF"/>
          </a:solidFill>
          <a:ln>
            <a:noFill/>
          </a:ln>
          <a:effectLst>
            <a:outerShdw blurRad="76200" rotWithShape="0" algn="bl" dir="5400000" dist="25400">
              <a:srgbClr val="9AA0B5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4315968" y="2834640"/>
            <a:ext cx="2478024" cy="402336"/>
          </a:xfrm>
          <a:prstGeom prst="roundRect">
            <a:avLst>
              <a:gd fmla="val 22727" name="adj"/>
            </a:avLst>
          </a:prstGeom>
          <a:solidFill>
            <a:srgbClr val="5623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4407408" y="2834640"/>
            <a:ext cx="2331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 Causas do Problema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4443984" y="3346704"/>
            <a:ext cx="2414016" cy="193852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6" lIns="36576" spcFirstLastPara="1" rIns="36576" wrap="square" tIns="36576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200"/>
              </a:spcAft>
              <a:buClr>
                <a:srgbClr val="2B2B3A"/>
              </a:buClr>
              <a:buSzPts val="1050"/>
              <a:buFont typeface="Arial"/>
              <a:buChar char="•"/>
            </a:pPr>
            <a:r>
              <a:rPr b="1" sz="800">
                <a:solidFill>
                  <a:srgbClr val="0F2B48"/>
                </a:solidFill>
              </a:rPr>
              <a:t> Canais Dispersos: </a:t>
            </a:r>
            <a:r>
              <a:rPr b="0" sz="800">
                <a:solidFill>
                  <a:srgbClr val="334155"/>
                </a:solidFill>
              </a:rPr>
              <a:t>Pedidos por WhatsApp, e-mail, telefone e abordagem direta.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b="1" sz="800">
                <a:solidFill>
                  <a:srgbClr val="0F2B48"/>
                </a:solidFill>
              </a:rPr>
              <a:t> Registros Manuais: </a:t>
            </a:r>
            <a:r>
              <a:rPr b="0" sz="800">
                <a:solidFill>
                  <a:srgbClr val="334155"/>
                </a:solidFill>
              </a:rPr>
              <a:t>Anotações em planilhas sem padrão e dependentes da memória humana.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b="1" sz="800">
                <a:solidFill>
                  <a:srgbClr val="0F2B48"/>
                </a:solidFill>
              </a:rPr>
              <a:t> Sem Validação: </a:t>
            </a:r>
            <a:r>
              <a:rPr b="0" sz="800">
                <a:solidFill>
                  <a:srgbClr val="334155"/>
                </a:solidFill>
              </a:rPr>
              <a:t>Ausência de regras automatizadas para checar lotação e datas passadas.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b="1" sz="800">
                <a:solidFill>
                  <a:srgbClr val="0F2B48"/>
                </a:solidFill>
              </a:rPr>
              <a:t> Retorno Ignorado: </a:t>
            </a:r>
            <a:r>
              <a:rPr b="0" sz="800">
                <a:solidFill>
                  <a:srgbClr val="334155"/>
                </a:solidFill>
              </a:rPr>
              <a:t>Registro focado apenas na saída, sem travar o tempo de volta.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b="1" sz="800">
                <a:solidFill>
                  <a:srgbClr val="0F2B48"/>
                </a:solidFill>
              </a:rPr>
              <a:t> Sem Base Única: </a:t>
            </a:r>
            <a:r>
              <a:rPr b="0" sz="800">
                <a:solidFill>
                  <a:srgbClr val="334155"/>
                </a:solidFill>
              </a:rPr>
              <a:t>Inexistência de banco relacional centralizado.</a:t>
            </a:r>
          </a:p>
        </p:txBody>
      </p:sp>
      <p:sp>
        <p:nvSpPr>
          <p:cNvPr id="40" name="Google Shape;40;p3"/>
          <p:cNvSpPr/>
          <p:nvPr/>
        </p:nvSpPr>
        <p:spPr>
          <a:xfrm>
            <a:off x="7168896" y="2834640"/>
            <a:ext cx="3703320" cy="1700784"/>
          </a:xfrm>
          <a:prstGeom prst="roundRect">
            <a:avLst>
              <a:gd fmla="val 4839" name="adj"/>
            </a:avLst>
          </a:prstGeom>
          <a:solidFill>
            <a:srgbClr val="FFF3EB"/>
          </a:solidFill>
          <a:ln>
            <a:noFill/>
          </a:ln>
          <a:effectLst>
            <a:outerShdw blurRad="76200" rotWithShape="0" algn="bl" dir="5400000" dist="25400">
              <a:srgbClr val="9AA0B5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7168896" y="2834640"/>
            <a:ext cx="2576779" cy="402336"/>
          </a:xfrm>
          <a:prstGeom prst="roundRect">
            <a:avLst>
              <a:gd fmla="val 22727" name="adj"/>
            </a:avLst>
          </a:prstGeom>
          <a:solidFill>
            <a:srgbClr val="FE93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/>
          <p:cNvSpPr/>
          <p:nvPr/>
        </p:nvSpPr>
        <p:spPr>
          <a:xfrm>
            <a:off x="7260336" y="2834640"/>
            <a:ext cx="2430475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 Efeitos do problema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7296912" y="3346704"/>
            <a:ext cx="344728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6" lIns="36576" spcFirstLastPara="1" rIns="36576" wrap="square" tIns="36576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200"/>
              </a:spcAft>
              <a:buClr>
                <a:srgbClr val="2B2B3A"/>
              </a:buClr>
              <a:buSzPts val="1050"/>
              <a:buFont typeface="Arial"/>
              <a:buChar char="•"/>
            </a:pPr>
            <a:r>
              <a:rPr b="1" sz="800">
                <a:solidFill>
                  <a:srgbClr val="0F2B48"/>
                </a:solidFill>
              </a:rPr>
              <a:t> Atrasos Operacionais: </a:t>
            </a:r>
            <a:r>
              <a:rPr b="0" sz="800">
                <a:solidFill>
                  <a:srgbClr val="334155"/>
                </a:solidFill>
              </a:rPr>
              <a:t>Equipes paradas aguardando o retorno de veículos.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b="1" sz="800">
                <a:solidFill>
                  <a:srgbClr val="0F2B48"/>
                </a:solidFill>
              </a:rPr>
              <a:t> Atrito Entre Setores: </a:t>
            </a:r>
            <a:r>
              <a:rPr b="0" sz="800">
                <a:solidFill>
                  <a:srgbClr val="334155"/>
                </a:solidFill>
              </a:rPr>
              <a:t>Desgaste e conflito entre colaboradores disputando o mesmo carro.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b="1" sz="800">
                <a:solidFill>
                  <a:srgbClr val="0F2B48"/>
                </a:solidFill>
              </a:rPr>
              <a:t> Incompatibilidade: </a:t>
            </a:r>
            <a:r>
              <a:rPr b="0" sz="800">
                <a:solidFill>
                  <a:srgbClr val="334155"/>
                </a:solidFill>
              </a:rPr>
              <a:t>Equipes de 7 pessoas sem conseguir embarcar em veículo de 4 vagas.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b="1" sz="800">
                <a:solidFill>
                  <a:srgbClr val="0F2B48"/>
                </a:solidFill>
              </a:rPr>
              <a:t> Motoristas sem Rumo: </a:t>
            </a:r>
            <a:r>
              <a:rPr b="0" sz="800">
                <a:solidFill>
                  <a:srgbClr val="334155"/>
                </a:solidFill>
              </a:rPr>
              <a:t>Ordens contraditórias e dúvida sobre qual setor atender.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b="1" sz="800">
                <a:solidFill>
                  <a:srgbClr val="0F2B48"/>
                </a:solidFill>
              </a:rPr>
              <a:t> Sobrecarga no COSEG: </a:t>
            </a:r>
            <a:r>
              <a:rPr b="0" sz="800">
                <a:solidFill>
                  <a:srgbClr val="334155"/>
                </a:solidFill>
              </a:rPr>
              <a:t>Retrabalho contínuo reorganizando escalas e motoristas.</a:t>
            </a:r>
          </a:p>
        </p:txBody>
      </p:sp>
      <p:sp>
        <p:nvSpPr>
          <p:cNvPr id="44" name="Google Shape;44;p3"/>
          <p:cNvSpPr/>
          <p:nvPr/>
        </p:nvSpPr>
        <p:spPr>
          <a:xfrm>
            <a:off x="4315968" y="5468112"/>
            <a:ext cx="2670048" cy="1161288"/>
          </a:xfrm>
          <a:prstGeom prst="roundRect">
            <a:avLst>
              <a:gd fmla="val 7087" name="adj"/>
            </a:avLst>
          </a:prstGeom>
          <a:solidFill>
            <a:srgbClr val="E5F2E9"/>
          </a:solidFill>
          <a:ln>
            <a:noFill/>
          </a:ln>
          <a:effectLst>
            <a:outerShdw blurRad="76200" rotWithShape="0" algn="bl" dir="5400000" dist="25400">
              <a:srgbClr val="9AA0B5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4315968" y="5468112"/>
            <a:ext cx="2670048" cy="402336"/>
          </a:xfrm>
          <a:prstGeom prst="roundRect">
            <a:avLst>
              <a:gd fmla="val 22727" name="adj"/>
            </a:avLst>
          </a:prstGeom>
          <a:solidFill>
            <a:srgbClr val="1B7A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4407408" y="5468112"/>
            <a:ext cx="2523744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 Objetivos de Aprendizagem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4443984" y="5980176"/>
            <a:ext cx="2414016" cy="557784"/>
          </a:xfrm>
          <a:prstGeom prst="rect">
            <a:avLst/>
          </a:prstGeom>
          <a:noFill/>
          <a:ln>
            <a:noFill/>
          </a:ln>
        </p:spPr>
        <p:txBody>
          <a:bodyPr anchorCtr="0" anchor="t" bIns="36576" lIns="36576" spcFirstLastPara="1" rIns="36576" wrap="square" tIns="36576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200"/>
              </a:spcAft>
              <a:buClr>
                <a:srgbClr val="2B2B3A"/>
              </a:buClr>
              <a:buSzPts val="950"/>
              <a:buFont typeface="Arial"/>
              <a:buChar char="•"/>
            </a:pPr>
            <a:r>
              <a:rPr b="1" sz="800">
                <a:solidFill>
                  <a:srgbClr val="0F2B48"/>
                </a:solidFill>
              </a:rPr>
              <a:t> Modelagem ORM: </a:t>
            </a:r>
            <a:r>
              <a:rPr b="0" sz="800">
                <a:solidFill>
                  <a:srgbClr val="334155"/>
                </a:solidFill>
              </a:rPr>
              <a:t>Como modelar Veículo e Reserva usando Django Models e relacionamentos?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b="1" sz="800">
                <a:solidFill>
                  <a:srgbClr val="0F2B48"/>
                </a:solidFill>
              </a:rPr>
              <a:t> Regras no Servidor: </a:t>
            </a:r>
            <a:r>
              <a:rPr b="0" sz="800">
                <a:solidFill>
                  <a:srgbClr val="334155"/>
                </a:solidFill>
              </a:rPr>
              <a:t>Como interceptar e validar requisições HTTP antes de persistir?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b="1" sz="800">
                <a:solidFill>
                  <a:srgbClr val="0F2B48"/>
                </a:solidFill>
              </a:rPr>
              <a:t> Anticonflito: </a:t>
            </a:r>
            <a:r>
              <a:rPr b="0" sz="800">
                <a:solidFill>
                  <a:srgbClr val="334155"/>
                </a:solidFill>
              </a:rPr>
              <a:t>Como formular a lógica que detecta sobreposição de horários no mesmo dia?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b="1" sz="800">
                <a:solidFill>
                  <a:srgbClr val="0F2B48"/>
                </a:solidFill>
              </a:rPr>
              <a:t> CRUD e Testes: </a:t>
            </a:r>
            <a:r>
              <a:rPr b="0" sz="800">
                <a:solidFill>
                  <a:srgbClr val="334155"/>
                </a:solidFill>
              </a:rPr>
              <a:t>Como estruturar operações CRUD e suíte de testes automatizados?</a:t>
            </a:r>
          </a:p>
        </p:txBody>
      </p:sp>
      <p:sp>
        <p:nvSpPr>
          <p:cNvPr id="48" name="Google Shape;48;p3"/>
          <p:cNvSpPr/>
          <p:nvPr/>
        </p:nvSpPr>
        <p:spPr>
          <a:xfrm>
            <a:off x="7168896" y="4617720"/>
            <a:ext cx="3703320" cy="2011680"/>
          </a:xfrm>
          <a:prstGeom prst="roundRect">
            <a:avLst>
              <a:gd fmla="val 4091" name="adj"/>
            </a:avLst>
          </a:prstGeom>
          <a:solidFill>
            <a:srgbClr val="F4EDFF"/>
          </a:solidFill>
          <a:ln>
            <a:noFill/>
          </a:ln>
          <a:effectLst>
            <a:outerShdw blurRad="76200" rotWithShape="0" algn="bl" dir="5400000" dist="25400">
              <a:srgbClr val="9AA0B5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7168896" y="4617720"/>
            <a:ext cx="2971800" cy="402336"/>
          </a:xfrm>
          <a:prstGeom prst="roundRect">
            <a:avLst>
              <a:gd fmla="val 22727" name="adj"/>
            </a:avLst>
          </a:prstGeom>
          <a:solidFill>
            <a:srgbClr val="7C4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7260336" y="4617720"/>
            <a:ext cx="282549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 Solução de cada Questão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7296912" y="5129784"/>
            <a:ext cx="3447288" cy="1408176"/>
          </a:xfrm>
          <a:prstGeom prst="rect">
            <a:avLst/>
          </a:prstGeom>
          <a:noFill/>
          <a:ln>
            <a:noFill/>
          </a:ln>
        </p:spPr>
        <p:txBody>
          <a:bodyPr anchorCtr="0" anchor="t" bIns="36576" lIns="36576" spcFirstLastPara="1" rIns="36576" wrap="square" tIns="36576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200"/>
              </a:spcAft>
              <a:buClr>
                <a:srgbClr val="2B2B3A"/>
              </a:buClr>
              <a:buSzPts val="1050"/>
              <a:buFont typeface="Arial"/>
              <a:buChar char="•"/>
            </a:pPr>
            <a:r>
              <a:rPr b="1" sz="800">
                <a:solidFill>
                  <a:srgbClr val="0F2B48"/>
                </a:solidFill>
              </a:rPr>
              <a:t> Centralização: </a:t>
            </a:r>
            <a:r>
              <a:rPr b="0" sz="800">
                <a:solidFill>
                  <a:srgbClr val="334155"/>
                </a:solidFill>
              </a:rPr>
              <a:t>Models Veiculo e Reserva salvos no SQLite via Django ORM.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b="1" sz="800">
                <a:solidFill>
                  <a:srgbClr val="0F2B48"/>
                </a:solidFill>
              </a:rPr>
              <a:t> Validação de Capacidade: </a:t>
            </a:r>
            <a:r>
              <a:rPr b="0" sz="800">
                <a:solidFill>
                  <a:srgbClr val="334155"/>
                </a:solidFill>
              </a:rPr>
              <a:t>services.py rejeita pedidos &gt; 18 vagas ou que excedam a lotação do carro.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b="1" sz="800">
                <a:solidFill>
                  <a:srgbClr val="0F2B48"/>
                </a:solidFill>
              </a:rPr>
              <a:t> Horários e Datas: </a:t>
            </a:r>
            <a:r>
              <a:rPr b="0" sz="800">
                <a:solidFill>
                  <a:srgbClr val="334155"/>
                </a:solidFill>
              </a:rPr>
              <a:t>Bloqueio de datas passadas e garantia de retorno estritamente após a saída.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b="1" sz="800">
                <a:solidFill>
                  <a:srgbClr val="0F2B48"/>
                </a:solidFill>
              </a:rPr>
              <a:t> Cálculo Anticonflito: </a:t>
            </a:r>
            <a:r>
              <a:rPr b="0" sz="800">
                <a:solidFill>
                  <a:srgbClr val="334155"/>
                </a:solidFill>
              </a:rPr>
              <a:t>Fórmula de interseção: (nova_saida &lt; retorno_existente) and (nova_retorno &gt; saida_existente).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b="1" sz="800">
                <a:solidFill>
                  <a:srgbClr val="0F2B48"/>
                </a:solidFill>
              </a:rPr>
              <a:t> API RESTful: </a:t>
            </a:r>
            <a:r>
              <a:rPr b="0" sz="800">
                <a:solidFill>
                  <a:srgbClr val="334155"/>
                </a:solidFill>
              </a:rPr>
              <a:t>Endpoints JSON (/veiculos/, /reservas/) com status HTTP e CRUD completo.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b="1" sz="800">
                <a:solidFill>
                  <a:srgbClr val="0F2B48"/>
                </a:solidFill>
              </a:rPr>
              <a:t> Qualidade: </a:t>
            </a:r>
            <a:r>
              <a:rPr b="0" sz="800">
                <a:solidFill>
                  <a:srgbClr val="334155"/>
                </a:solidFill>
              </a:rPr>
              <a:t>18 testes automatizados aprovados comprovando todas as regras.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