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" name="Google Shape;4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7" name="Google Shape;26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46304" cy="34290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3429000"/>
            <a:ext cx="146304" cy="3429000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1/assets/undb_logo.png" id="18" name="Google Shape;1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411480"/>
            <a:ext cx="1554480" cy="47542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/>
          <p:nvPr/>
        </p:nvSpPr>
        <p:spPr>
          <a:xfrm>
            <a:off x="530352" y="1188720"/>
            <a:ext cx="1691640" cy="365760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30352" y="118872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PBL 1 · ETAPA 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02920" y="1691640"/>
            <a:ext cx="9601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3500"/>
              <a:buFont typeface="Arial"/>
              <a:buNone/>
            </a:pPr>
            <a:r>
              <a:rPr b="1" i="0" lang="en-US" sz="35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PBL 1 · AGENDA EM CONFLITO</a:t>
            </a:r>
            <a:endParaRPr b="0" i="0" sz="3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30352" y="25146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Conflito na reserva de veículos de uma frota corporativa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30352" y="32004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</a:t>
            </a:r>
            <a:b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Engenharia de Software</a:t>
            </a:r>
            <a:b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Prof. Me. Danilo Costa</a:t>
            </a:r>
            <a:b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30352" y="489204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426464" y="5020056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426464" y="502005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Calibri"/>
              <a:buNone/>
            </a:pPr>
            <a:r>
              <a:rPr b="0" i="0" lang="en-US" sz="166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🚗</a:t>
            </a:r>
            <a:endParaRPr b="0" i="0" sz="1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530352" y="573328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Frota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3182112" y="489204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078224" y="5020056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4078224" y="502005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Calibri"/>
              <a:buNone/>
            </a:pPr>
            <a:r>
              <a:rPr b="0" i="0" lang="en-US" sz="166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🕒</a:t>
            </a:r>
            <a:endParaRPr b="0" i="0" sz="1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3182112" y="573328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Horários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833872" y="489204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729984" y="5020056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729984" y="502005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Calibri"/>
              <a:buNone/>
            </a:pPr>
            <a:r>
              <a:rPr b="0" i="0" lang="en-US" sz="166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b="0" i="0" sz="1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833872" y="573328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Deslocamentos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485632" y="4892040"/>
            <a:ext cx="2377440" cy="1188720"/>
          </a:xfrm>
          <a:prstGeom prst="roundRect">
            <a:avLst>
              <a:gd fmla="val 7692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9381744" y="5020056"/>
            <a:ext cx="585216" cy="585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9381744" y="5020056"/>
            <a:ext cx="585216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Calibri"/>
              <a:buNone/>
            </a:pPr>
            <a:r>
              <a:rPr b="0" i="0" lang="en-US" sz="166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16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8485632" y="5733288"/>
            <a:ext cx="2377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Colaboradores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530352" y="63550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UM PROBLEMA PARA SER INVESTIGADO.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1/assets/undb_logo.png" id="48" name="Google Shape;4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Um processo com muitas variáveis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Agenda em Conflito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O CENÁRIO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457200" y="1691640"/>
            <a:ext cx="3520440" cy="1051560"/>
          </a:xfrm>
          <a:prstGeom prst="roundRect">
            <a:avLst>
              <a:gd fmla="val 78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40080" y="196138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0080" y="196138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Calibri"/>
              <a:buNone/>
            </a:pPr>
            <a:r>
              <a:rPr b="0" i="0" lang="en-US" sz="14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1280160" y="1691640"/>
            <a:ext cx="2560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Colaboradores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4251960" y="1691640"/>
            <a:ext cx="3520440" cy="1051560"/>
          </a:xfrm>
          <a:prstGeom prst="roundRect">
            <a:avLst>
              <a:gd fmla="val 78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434840" y="196138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434840" y="196138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Calibri"/>
              <a:buNone/>
            </a:pPr>
            <a:r>
              <a:rPr b="0" i="0" lang="en-US" sz="14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074920" y="1691640"/>
            <a:ext cx="2560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Atividades externas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8046720" y="1691640"/>
            <a:ext cx="3520440" cy="1051560"/>
          </a:xfrm>
          <a:prstGeom prst="roundRect">
            <a:avLst>
              <a:gd fmla="val 78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8229600" y="1961388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229600" y="1961388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Calibri"/>
              <a:buNone/>
            </a:pPr>
            <a:r>
              <a:rPr b="0" i="0" lang="en-US" sz="14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🚗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8869680" y="1691640"/>
            <a:ext cx="2560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Deslocamentos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57200" y="2999232"/>
            <a:ext cx="3520440" cy="1051560"/>
          </a:xfrm>
          <a:prstGeom prst="roundRect">
            <a:avLst>
              <a:gd fmla="val 78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40080" y="326898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40080" y="32689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Calibri"/>
              <a:buNone/>
            </a:pPr>
            <a:r>
              <a:rPr b="0" i="0" lang="en-US" sz="14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🚐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280160" y="2999232"/>
            <a:ext cx="2560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Veículos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4251960" y="2999232"/>
            <a:ext cx="3520440" cy="1051560"/>
          </a:xfrm>
          <a:prstGeom prst="roundRect">
            <a:avLst>
              <a:gd fmla="val 78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4434840" y="326898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4434840" y="32689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Calibri"/>
              <a:buNone/>
            </a:pPr>
            <a:r>
              <a:rPr b="0" i="0" lang="en-US" sz="14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🕒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074920" y="2999232"/>
            <a:ext cx="2560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Horários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046720" y="2999232"/>
            <a:ext cx="3520440" cy="1051560"/>
          </a:xfrm>
          <a:prstGeom prst="roundRect">
            <a:avLst>
              <a:gd fmla="val 78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229600" y="3268980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8229600" y="326898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Calibri"/>
              <a:buNone/>
            </a:pPr>
            <a:r>
              <a:rPr b="0" i="0" lang="en-US" sz="14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8869680" y="2999232"/>
            <a:ext cx="25603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Demandas diferentes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457200" y="4434840"/>
            <a:ext cx="2697480" cy="457200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57200" y="443484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Diferentes solicitações.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300984" y="4434840"/>
            <a:ext cx="2697480" cy="457200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3300984" y="443484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Diferentes horários.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144768" y="4434840"/>
            <a:ext cx="2697480" cy="457200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6144768" y="443484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Diferentes necessidades.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8988552" y="4434840"/>
            <a:ext cx="2697480" cy="457200"/>
          </a:xfrm>
          <a:prstGeom prst="roundRect">
            <a:avLst>
              <a:gd fmla="val 50000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8988552" y="4434840"/>
            <a:ext cx="2697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Recursos compartilhados.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457200" y="525780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40080" y="525780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QUE TIPO DE PROBLEMA PODE SURGIR NESSE PROCESSO?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1/assets/undb_logo.png"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Informações espalhadas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Agenda em Conflito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O CENÁRIO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454000" y="1691640"/>
            <a:ext cx="2514600" cy="1051560"/>
          </a:xfrm>
          <a:prstGeom prst="roundRect">
            <a:avLst>
              <a:gd fmla="val 782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1455268" y="181051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1455268" y="181051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Calibri"/>
              <a:buNone/>
            </a:pPr>
            <a:r>
              <a:rPr b="0" i="0" lang="en-US" sz="14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📞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454000" y="2404872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Telefone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224632" y="1691640"/>
            <a:ext cx="2514600" cy="1051560"/>
          </a:xfrm>
          <a:prstGeom prst="roundRect">
            <a:avLst>
              <a:gd fmla="val 782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4225900" y="181051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4225900" y="181051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Calibri"/>
              <a:buNone/>
            </a:pPr>
            <a:r>
              <a:rPr b="0" i="0" lang="en-US" sz="14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✉️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224632" y="2404872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E-mail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995264" y="1691640"/>
            <a:ext cx="2514600" cy="1051560"/>
          </a:xfrm>
          <a:prstGeom prst="roundRect">
            <a:avLst>
              <a:gd fmla="val 782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996532" y="181051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996532" y="181051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Calibri"/>
              <a:buNone/>
            </a:pPr>
            <a:r>
              <a:rPr b="0" i="0" lang="en-US" sz="14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995264" y="2404872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Mensagem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765896" y="1691640"/>
            <a:ext cx="2514600" cy="1051560"/>
          </a:xfrm>
          <a:prstGeom prst="roundRect">
            <a:avLst>
              <a:gd fmla="val 782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9767164" y="1810512"/>
            <a:ext cx="512064" cy="51206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9767164" y="1810512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Calibri"/>
              <a:buNone/>
            </a:pPr>
            <a:r>
              <a:rPr b="0" i="0" lang="en-US" sz="145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🧍</a:t>
            </a:r>
            <a:endParaRPr b="0" i="0" sz="14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8765896" y="2404872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Atendimento direto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757520" y="2834640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4221328" y="3154680"/>
            <a:ext cx="3291840" cy="548640"/>
          </a:xfrm>
          <a:prstGeom prst="roundRect">
            <a:avLst>
              <a:gd fmla="val 13333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4221328" y="315468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REGISTROS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757520" y="3794760"/>
            <a:ext cx="219456" cy="29260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69468" y="4206240"/>
            <a:ext cx="2377440" cy="594360"/>
          </a:xfrm>
          <a:prstGeom prst="roundRect">
            <a:avLst>
              <a:gd fmla="val 49231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69468" y="42062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Planilhas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375508" y="4206240"/>
            <a:ext cx="2377440" cy="594360"/>
          </a:xfrm>
          <a:prstGeom prst="roundRect">
            <a:avLst>
              <a:gd fmla="val 49231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375508" y="42062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Agendas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981548" y="4206240"/>
            <a:ext cx="2377440" cy="594360"/>
          </a:xfrm>
          <a:prstGeom prst="roundRect">
            <a:avLst>
              <a:gd fmla="val 49231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5981548" y="42062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Anotações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587588" y="4206240"/>
            <a:ext cx="2377440" cy="594360"/>
          </a:xfrm>
          <a:prstGeom prst="roundRect">
            <a:avLst>
              <a:gd fmla="val 49231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8587588" y="4206240"/>
            <a:ext cx="23774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Conversas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7200" y="512064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640080" y="512064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ACONTECE QUANDO AS INFORMAÇÕES NÃO ESTÃO CENTRALIZADAS?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1/assets/undb_logo.png" id="136" name="Google Shape;13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Identifique as situações-problema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Agenda em Conflito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LEITURA ORIENTADA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457200" y="1691640"/>
            <a:ext cx="10820095" cy="502920"/>
          </a:xfrm>
          <a:prstGeom prst="roundRect">
            <a:avLst>
              <a:gd fmla="val 14545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685800" y="16916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Durante a leitura, identifiquem situações relacionadas a: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457200" y="2423160"/>
            <a:ext cx="3520440" cy="1051560"/>
          </a:xfrm>
          <a:prstGeom prst="roundRect">
            <a:avLst>
              <a:gd fmla="val 78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1897380" y="25603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1897380" y="2560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Calibri"/>
              <a:buNone/>
            </a:pPr>
            <a:r>
              <a:rPr b="0" i="0" lang="en-US" sz="18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🚗</a:t>
            </a:r>
            <a:endParaRPr b="0" i="0" sz="1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594360" y="320040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Disponibilidade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4251960" y="2423160"/>
            <a:ext cx="3520440" cy="1051560"/>
          </a:xfrm>
          <a:prstGeom prst="roundRect">
            <a:avLst>
              <a:gd fmla="val 78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5692140" y="25603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5692140" y="2560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Calibri"/>
              <a:buNone/>
            </a:pPr>
            <a:r>
              <a:rPr b="0" i="0" lang="en-US" sz="18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 b="0" i="0" sz="1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4389120" y="320040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Capacidade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8046720" y="2423160"/>
            <a:ext cx="3520440" cy="1051560"/>
          </a:xfrm>
          <a:prstGeom prst="roundRect">
            <a:avLst>
              <a:gd fmla="val 78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9486900" y="256032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9486900" y="2560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Calibri"/>
              <a:buNone/>
            </a:pPr>
            <a:r>
              <a:rPr b="0" i="0" lang="en-US" sz="18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🕒</a:t>
            </a:r>
            <a:endParaRPr b="0" i="0" sz="1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8183880" y="320040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Horários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57200" y="3703320"/>
            <a:ext cx="3520440" cy="1051560"/>
          </a:xfrm>
          <a:prstGeom prst="roundRect">
            <a:avLst>
              <a:gd fmla="val 78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1897380" y="38404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1897380" y="38404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Calibri"/>
              <a:buNone/>
            </a:pPr>
            <a:r>
              <a:rPr b="0" i="0" lang="en-US" sz="18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🗂️</a:t>
            </a:r>
            <a:endParaRPr b="0" i="0" sz="1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594360" y="448056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Organização das informações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4251960" y="3703320"/>
            <a:ext cx="3520440" cy="1051560"/>
          </a:xfrm>
          <a:prstGeom prst="roundRect">
            <a:avLst>
              <a:gd fmla="val 78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5692140" y="38404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692140" y="38404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Calibri"/>
              <a:buNone/>
            </a:pPr>
            <a:r>
              <a:rPr b="0" i="0" lang="en-US" sz="18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1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389120" y="448056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Comunicação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8046720" y="3703320"/>
            <a:ext cx="3520440" cy="1051560"/>
          </a:xfrm>
          <a:prstGeom prst="roundRect">
            <a:avLst>
              <a:gd fmla="val 7826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9486900" y="3840480"/>
            <a:ext cx="640080" cy="6400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486900" y="38404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0"/>
              <a:buFont typeface="Calibri"/>
              <a:buNone/>
            </a:pPr>
            <a:r>
              <a:rPr b="0" i="0" lang="en-US" sz="18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18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8183880" y="4480560"/>
            <a:ext cx="3246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Conflitos de uso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57200" y="507492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40080" y="507492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QUAIS PROBLEMAS APARECEM NA NARRATIVA?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1/assets/undb_logo.png"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7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Separe fatos de interpretações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Agenda em Conflito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ANÁLISE DO TEXTO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457200" y="1737360"/>
            <a:ext cx="5120640" cy="2834640"/>
          </a:xfrm>
          <a:prstGeom prst="roundRect">
            <a:avLst>
              <a:gd fmla="val 3226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731520" y="2057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FATOS DO PROBLEMA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786384" y="2606040"/>
            <a:ext cx="21945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E9D7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731520" y="3063240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Informações explicitamente apresentadas na narrativa.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6156655" y="1737360"/>
            <a:ext cx="5120640" cy="2834640"/>
          </a:xfrm>
          <a:prstGeom prst="roundRect">
            <a:avLst>
              <a:gd fmla="val 322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6430975" y="20574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INTERPRETAÇÕES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485839" y="2606040"/>
            <a:ext cx="219456" cy="27432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6430975" y="3063240"/>
            <a:ext cx="4114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Explicações ou hipóteses construídas pelo grupo.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457200" y="4846320"/>
            <a:ext cx="5394960" cy="502920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57200" y="4846320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 que o texto realmente informa?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6153912" y="4846320"/>
            <a:ext cx="5394960" cy="502920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6153912" y="4846320"/>
            <a:ext cx="5394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 que estamos supondo?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1/assets/undb_logo.png" id="200" name="Google Shape;20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Qual é o problema principal?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Agenda em Conflito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SÍNTESE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5" name="Google Shape;205;p8"/>
          <p:cNvCxnSpPr/>
          <p:nvPr/>
        </p:nvCxnSpPr>
        <p:spPr>
          <a:xfrm rot="10800000">
            <a:off x="3854654" y="2971800"/>
            <a:ext cx="2012594" cy="274320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8"/>
          <p:cNvCxnSpPr/>
          <p:nvPr/>
        </p:nvCxnSpPr>
        <p:spPr>
          <a:xfrm rot="10800000">
            <a:off x="4444129" y="2260240"/>
            <a:ext cx="1423119" cy="985880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8"/>
          <p:cNvCxnSpPr/>
          <p:nvPr/>
        </p:nvCxnSpPr>
        <p:spPr>
          <a:xfrm rot="10800000">
            <a:off x="5867248" y="1965503"/>
            <a:ext cx="0" cy="1280617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8"/>
          <p:cNvCxnSpPr/>
          <p:nvPr/>
        </p:nvCxnSpPr>
        <p:spPr>
          <a:xfrm flipH="1" rot="10800000">
            <a:off x="5867248" y="2260240"/>
            <a:ext cx="1423119" cy="985880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8"/>
          <p:cNvCxnSpPr/>
          <p:nvPr/>
        </p:nvCxnSpPr>
        <p:spPr>
          <a:xfrm flipH="1" rot="10800000">
            <a:off x="5867248" y="2971800"/>
            <a:ext cx="2012594" cy="274320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0" name="Google Shape;210;p8"/>
          <p:cNvSpPr/>
          <p:nvPr/>
        </p:nvSpPr>
        <p:spPr>
          <a:xfrm>
            <a:off x="2894533" y="2688336"/>
            <a:ext cx="1920240" cy="56692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2940253" y="2688336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Informações dispersas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484008" y="1976776"/>
            <a:ext cx="1920240" cy="56692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3529728" y="1976776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Horários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4907128" y="1682039"/>
            <a:ext cx="1920240" cy="56692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4952848" y="1682039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Capacidade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330247" y="1976776"/>
            <a:ext cx="1920240" cy="56692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375967" y="1976776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Disponibilidade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919722" y="2688336"/>
            <a:ext cx="1920240" cy="566928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6965442" y="2688336"/>
            <a:ext cx="18288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Comunicação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364328" y="2743200"/>
            <a:ext cx="1005840" cy="1005840"/>
          </a:xfrm>
          <a:prstGeom prst="ellipse">
            <a:avLst/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364328" y="2743200"/>
            <a:ext cx="10058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457200" y="5897880"/>
            <a:ext cx="11277295" cy="566928"/>
          </a:xfrm>
          <a:prstGeom prst="roundRect">
            <a:avLst>
              <a:gd fmla="val 12903" name="adj"/>
            </a:avLst>
          </a:prstGeom>
          <a:solidFill>
            <a:srgbClr val="102A43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640080" y="5897880"/>
            <a:ext cx="10908792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QUAL É O PROBLEMA QUE PRECISA SER RESOLVIDO?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1/assets/undb_logo.png" id="231" name="Google Shape;23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 que precisamos entender melhor?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Agenda em Conflito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VOCABULÁRIO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57200" y="1645920"/>
            <a:ext cx="1082009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O grupo deve identificar, a partir da leitura, os termos e conceitos que precisam de investigação.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457200" y="2194560"/>
            <a:ext cx="3429000" cy="3383280"/>
          </a:xfrm>
          <a:prstGeom prst="roundRect">
            <a:avLst>
              <a:gd fmla="val 2703" name="adj"/>
            </a:avLst>
          </a:prstGeom>
          <a:solidFill>
            <a:srgbClr val="F2F4F7"/>
          </a:solidFill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731520" y="2468880"/>
            <a:ext cx="2880360" cy="502920"/>
          </a:xfrm>
          <a:prstGeom prst="roundRect">
            <a:avLst>
              <a:gd fmla="val 127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31520" y="246888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TERMO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2061972" y="3090672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31520" y="347472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que significa?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9"/>
          <p:cNvCxnSpPr/>
          <p:nvPr/>
        </p:nvCxnSpPr>
        <p:spPr>
          <a:xfrm>
            <a:off x="914400" y="3886200"/>
            <a:ext cx="2514600" cy="0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3" name="Google Shape;243;p9"/>
          <p:cNvSpPr/>
          <p:nvPr/>
        </p:nvSpPr>
        <p:spPr>
          <a:xfrm>
            <a:off x="2061972" y="406908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731520" y="44805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Por que é importante para o problema?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5" name="Google Shape;245;p9"/>
          <p:cNvCxnSpPr/>
          <p:nvPr/>
        </p:nvCxnSpPr>
        <p:spPr>
          <a:xfrm>
            <a:off x="914400" y="5166360"/>
            <a:ext cx="2514600" cy="0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46" name="Google Shape;246;p9"/>
          <p:cNvSpPr/>
          <p:nvPr/>
        </p:nvSpPr>
        <p:spPr>
          <a:xfrm>
            <a:off x="4197096" y="2194560"/>
            <a:ext cx="3429000" cy="3383280"/>
          </a:xfrm>
          <a:prstGeom prst="roundRect">
            <a:avLst>
              <a:gd fmla="val 2703" name="adj"/>
            </a:avLst>
          </a:prstGeom>
          <a:solidFill>
            <a:srgbClr val="F2F4F7"/>
          </a:solidFill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4471416" y="2468880"/>
            <a:ext cx="2880360" cy="502920"/>
          </a:xfrm>
          <a:prstGeom prst="roundRect">
            <a:avLst>
              <a:gd fmla="val 127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4471416" y="246888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TERMO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801868" y="3090672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471416" y="347472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que significa?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" name="Google Shape;251;p9"/>
          <p:cNvCxnSpPr/>
          <p:nvPr/>
        </p:nvCxnSpPr>
        <p:spPr>
          <a:xfrm>
            <a:off x="4654296" y="3886200"/>
            <a:ext cx="2514600" cy="0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2" name="Google Shape;252;p9"/>
          <p:cNvSpPr/>
          <p:nvPr/>
        </p:nvSpPr>
        <p:spPr>
          <a:xfrm>
            <a:off x="5801868" y="406908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4471416" y="44805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Por que é importante para o problema?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9"/>
          <p:cNvCxnSpPr/>
          <p:nvPr/>
        </p:nvCxnSpPr>
        <p:spPr>
          <a:xfrm>
            <a:off x="4654296" y="5166360"/>
            <a:ext cx="2514600" cy="0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55" name="Google Shape;255;p9"/>
          <p:cNvSpPr/>
          <p:nvPr/>
        </p:nvSpPr>
        <p:spPr>
          <a:xfrm>
            <a:off x="7936992" y="2194560"/>
            <a:ext cx="3429000" cy="3383280"/>
          </a:xfrm>
          <a:prstGeom prst="roundRect">
            <a:avLst>
              <a:gd fmla="val 2703" name="adj"/>
            </a:avLst>
          </a:prstGeom>
          <a:solidFill>
            <a:srgbClr val="F2F4F7"/>
          </a:solidFill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211312" y="2468880"/>
            <a:ext cx="2880360" cy="502920"/>
          </a:xfrm>
          <a:prstGeom prst="roundRect">
            <a:avLst>
              <a:gd fmla="val 1272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8211312" y="2468880"/>
            <a:ext cx="2880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TERMO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9541764" y="3090672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8211312" y="347472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O que significa?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0" name="Google Shape;260;p9"/>
          <p:cNvCxnSpPr/>
          <p:nvPr/>
        </p:nvCxnSpPr>
        <p:spPr>
          <a:xfrm>
            <a:off x="8394192" y="3886200"/>
            <a:ext cx="2514600" cy="0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1" name="Google Shape;261;p9"/>
          <p:cNvSpPr/>
          <p:nvPr/>
        </p:nvSpPr>
        <p:spPr>
          <a:xfrm>
            <a:off x="9541764" y="4069080"/>
            <a:ext cx="219456" cy="25603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8211312" y="4480560"/>
            <a:ext cx="2880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1F2937"/>
                </a:solidFill>
                <a:latin typeface="Arial"/>
                <a:ea typeface="Arial"/>
                <a:cs typeface="Arial"/>
                <a:sym typeface="Arial"/>
              </a:rPr>
              <a:t>Por que é importante para o problema?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3" name="Google Shape;263;p9"/>
          <p:cNvCxnSpPr/>
          <p:nvPr/>
        </p:nvCxnSpPr>
        <p:spPr>
          <a:xfrm>
            <a:off x="8394192" y="5166360"/>
            <a:ext cx="2514600" cy="0"/>
          </a:xfrm>
          <a:prstGeom prst="straightConnector1">
            <a:avLst/>
          </a:prstGeom>
          <a:noFill/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1/assets/undb_logo.png" id="271" name="Google Shape;27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0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Organizando a investigação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Agenda em Conflito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O 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457200" y="1691640"/>
            <a:ext cx="2514600" cy="914400"/>
          </a:xfrm>
          <a:prstGeom prst="roundRect">
            <a:avLst>
              <a:gd fmla="val 8000" name="adj"/>
            </a:avLst>
          </a:prstGeom>
          <a:solidFill>
            <a:srgbClr val="F7F4FF"/>
          </a:solidFill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85216" y="1691640"/>
            <a:ext cx="22585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Fatos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3154680" y="1691640"/>
            <a:ext cx="2514600" cy="914400"/>
          </a:xfrm>
          <a:prstGeom prst="roundRect">
            <a:avLst>
              <a:gd fmla="val 8000" name="adj"/>
            </a:avLst>
          </a:prstGeom>
          <a:solidFill>
            <a:srgbClr val="F7F4FF"/>
          </a:solidFill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3282696" y="1691640"/>
            <a:ext cx="22585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Termos desconhecidos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5852160" y="1691640"/>
            <a:ext cx="2514600" cy="914400"/>
          </a:xfrm>
          <a:prstGeom prst="roundRect">
            <a:avLst>
              <a:gd fmla="val 8000" name="adj"/>
            </a:avLst>
          </a:prstGeom>
          <a:solidFill>
            <a:srgbClr val="F7F4FF"/>
          </a:solidFill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980176" y="1691640"/>
            <a:ext cx="22585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Problema central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8549640" y="1691640"/>
            <a:ext cx="2514600" cy="914400"/>
          </a:xfrm>
          <a:prstGeom prst="roundRect">
            <a:avLst>
              <a:gd fmla="val 8000" name="adj"/>
            </a:avLst>
          </a:prstGeom>
          <a:solidFill>
            <a:srgbClr val="F7F4FF"/>
          </a:solidFill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8677656" y="1691640"/>
            <a:ext cx="22585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Causas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57200" y="2788920"/>
            <a:ext cx="2514600" cy="914400"/>
          </a:xfrm>
          <a:prstGeom prst="roundRect">
            <a:avLst>
              <a:gd fmla="val 8000" name="adj"/>
            </a:avLst>
          </a:prstGeom>
          <a:solidFill>
            <a:srgbClr val="F7F4FF"/>
          </a:solidFill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585216" y="2788920"/>
            <a:ext cx="22585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Efeitos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3154680" y="2788920"/>
            <a:ext cx="2514600" cy="914400"/>
          </a:xfrm>
          <a:prstGeom prst="roundRect">
            <a:avLst>
              <a:gd fmla="val 8000" name="adj"/>
            </a:avLst>
          </a:prstGeom>
          <a:solidFill>
            <a:srgbClr val="F7F4FF"/>
          </a:solidFill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3282696" y="2788920"/>
            <a:ext cx="22585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Hipóteses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5852160" y="2788920"/>
            <a:ext cx="2514600" cy="914400"/>
          </a:xfrm>
          <a:prstGeom prst="roundRect">
            <a:avLst>
              <a:gd fmla="val 8000" name="adj"/>
            </a:avLst>
          </a:prstGeom>
          <a:solidFill>
            <a:srgbClr val="F7F4FF"/>
          </a:solidFill>
          <a:ln cap="flat" cmpd="sng" w="12700">
            <a:solidFill>
              <a:srgbClr val="D0D5DD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5980176" y="2788920"/>
            <a:ext cx="2258568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Objetivos de aprendizagem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457200" y="402336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PERGUNTAS DE APOIO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0"/>
          <p:cNvSpPr/>
          <p:nvPr/>
        </p:nvSpPr>
        <p:spPr>
          <a:xfrm>
            <a:off x="502920" y="4416552"/>
            <a:ext cx="73152" cy="73152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0"/>
          <p:cNvSpPr/>
          <p:nvPr/>
        </p:nvSpPr>
        <p:spPr>
          <a:xfrm>
            <a:off x="731520" y="434340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 que sabemos?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502920" y="4782312"/>
            <a:ext cx="73152" cy="73152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731520" y="470916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 que não sabemos?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502920" y="5148072"/>
            <a:ext cx="73152" cy="73152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0"/>
          <p:cNvSpPr/>
          <p:nvPr/>
        </p:nvSpPr>
        <p:spPr>
          <a:xfrm>
            <a:off x="731520" y="507492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 que pode estar causando isso?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502920" y="5513832"/>
            <a:ext cx="73152" cy="73152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731520" y="544068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Quais consequências aparecem?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502920" y="5879592"/>
            <a:ext cx="73152" cy="73152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731520" y="580644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 que precisamos investigar?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6E23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1/assets/undb_logo.png" id="308" name="Google Shape;3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5560" y="292608"/>
            <a:ext cx="1508760" cy="46143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1"/>
          <p:cNvSpPr/>
          <p:nvPr/>
        </p:nvSpPr>
        <p:spPr>
          <a:xfrm>
            <a:off x="457200" y="457200"/>
            <a:ext cx="94183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O que precisamos aprender para avançar?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457200" y="6565392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Agenda em Conflito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11338560" y="656539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457200" y="31089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OBJETIVOS DE APRENDIZAGEM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457200" y="1737360"/>
            <a:ext cx="1915302" cy="868680"/>
          </a:xfrm>
          <a:prstGeom prst="roundRect">
            <a:avLst>
              <a:gd fmla="val 842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512064" y="1810512"/>
            <a:ext cx="180557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Problema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2422246" y="207111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2683398" y="1737360"/>
            <a:ext cx="1915302" cy="868680"/>
          </a:xfrm>
          <a:prstGeom prst="roundRect">
            <a:avLst>
              <a:gd fmla="val 842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2738262" y="1810512"/>
            <a:ext cx="180557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Dúvida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4648444" y="207111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4909596" y="1737360"/>
            <a:ext cx="1915302" cy="868680"/>
          </a:xfrm>
          <a:prstGeom prst="roundRect">
            <a:avLst>
              <a:gd fmla="val 842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4964460" y="1810512"/>
            <a:ext cx="180557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Pergunta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6874642" y="207111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7135795" y="1737360"/>
            <a:ext cx="1915302" cy="868680"/>
          </a:xfrm>
          <a:prstGeom prst="roundRect">
            <a:avLst>
              <a:gd fmla="val 8421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7190659" y="1810512"/>
            <a:ext cx="180557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Investigação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9100840" y="2071116"/>
            <a:ext cx="211409" cy="20116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0D5D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9361993" y="1737360"/>
            <a:ext cx="1915302" cy="868680"/>
          </a:xfrm>
          <a:prstGeom prst="roundRect">
            <a:avLst>
              <a:gd fmla="val 8421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9416857" y="1810512"/>
            <a:ext cx="1805574" cy="7223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 de aprendizagem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457200" y="3063240"/>
            <a:ext cx="10820095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085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Exemplos de estrutura de pergunta (não o conteúdo):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457200" y="3474720"/>
            <a:ext cx="1554480" cy="502920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457200" y="3474720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“Como...?”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2240280" y="3474720"/>
            <a:ext cx="2194560" cy="502920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2240280" y="347472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“De que forma...?”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4663440" y="3474720"/>
            <a:ext cx="2103120" cy="502920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4663440" y="347472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“Quais fatores...?”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995160" y="3474720"/>
            <a:ext cx="4023360" cy="502920"/>
          </a:xfrm>
          <a:prstGeom prst="roundRect">
            <a:avLst>
              <a:gd fmla="val 50000" name="adj"/>
            </a:avLst>
          </a:prstGeom>
          <a:solidFill>
            <a:srgbClr val="F2F4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6995160" y="3474720"/>
            <a:ext cx="4023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A4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A43"/>
                </a:solidFill>
                <a:latin typeface="Arial"/>
                <a:ea typeface="Arial"/>
                <a:cs typeface="Arial"/>
                <a:sym typeface="Arial"/>
              </a:rPr>
              <a:t>“Que informações são necessárias para...?”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457200" y="4297680"/>
            <a:ext cx="10820095" cy="1051560"/>
          </a:xfrm>
          <a:prstGeom prst="roundRect">
            <a:avLst>
              <a:gd fmla="val 8696" name="adj"/>
            </a:avLst>
          </a:prstGeom>
          <a:solidFill>
            <a:srgbClr val="F7F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1"/>
          <p:cNvSpPr/>
          <p:nvPr/>
        </p:nvSpPr>
        <p:spPr>
          <a:xfrm>
            <a:off x="822960" y="4297680"/>
            <a:ext cx="100858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Não usar perguntas prontas sobre Django, banco de dados, CRUD ou arquitetura.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23E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6E23E7"/>
                </a:solidFill>
                <a:latin typeface="Arial"/>
                <a:ea typeface="Arial"/>
                <a:cs typeface="Arial"/>
                <a:sym typeface="Arial"/>
              </a:rPr>
              <a:t>As perguntas devem nascer da leitura do grupo.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pbl1/assets/undb_logo.png" id="344" name="Google Shape;34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20040"/>
            <a:ext cx="1371600" cy="41948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2"/>
          <p:cNvSpPr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6007E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E6007E"/>
                </a:solidFill>
                <a:latin typeface="Arial"/>
                <a:ea typeface="Arial"/>
                <a:cs typeface="Arial"/>
                <a:sym typeface="Arial"/>
              </a:rPr>
              <a:t>PBL 1 · ETAPA 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2"/>
          <p:cNvSpPr/>
          <p:nvPr/>
        </p:nvSpPr>
        <p:spPr>
          <a:xfrm>
            <a:off x="457200" y="1207008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o grupo deve ter construído?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2"/>
          <p:cNvSpPr/>
          <p:nvPr/>
        </p:nvSpPr>
        <p:spPr>
          <a:xfrm>
            <a:off x="457200" y="2066544"/>
            <a:ext cx="237744" cy="237744"/>
          </a:xfrm>
          <a:prstGeom prst="rect">
            <a:avLst/>
          </a:prstGeom>
          <a:noFill/>
          <a:ln cap="flat" cmpd="sng" w="19050">
            <a:solidFill>
              <a:srgbClr val="E9D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2"/>
          <p:cNvSpPr/>
          <p:nvPr/>
        </p:nvSpPr>
        <p:spPr>
          <a:xfrm>
            <a:off x="841248" y="2011680"/>
            <a:ext cx="5010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Narrativa discutida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2"/>
          <p:cNvSpPr/>
          <p:nvPr/>
        </p:nvSpPr>
        <p:spPr>
          <a:xfrm>
            <a:off x="6217920" y="2066544"/>
            <a:ext cx="237744" cy="237744"/>
          </a:xfrm>
          <a:prstGeom prst="rect">
            <a:avLst/>
          </a:prstGeom>
          <a:noFill/>
          <a:ln cap="flat" cmpd="sng" w="19050">
            <a:solidFill>
              <a:srgbClr val="E9D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2"/>
          <p:cNvSpPr/>
          <p:nvPr/>
        </p:nvSpPr>
        <p:spPr>
          <a:xfrm>
            <a:off x="6601968" y="2011680"/>
            <a:ext cx="5010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Fatos identificados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2"/>
          <p:cNvSpPr/>
          <p:nvPr/>
        </p:nvSpPr>
        <p:spPr>
          <a:xfrm>
            <a:off x="457200" y="2542032"/>
            <a:ext cx="237744" cy="237744"/>
          </a:xfrm>
          <a:prstGeom prst="rect">
            <a:avLst/>
          </a:prstGeom>
          <a:noFill/>
          <a:ln cap="flat" cmpd="sng" w="19050">
            <a:solidFill>
              <a:srgbClr val="E9D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2"/>
          <p:cNvSpPr/>
          <p:nvPr/>
        </p:nvSpPr>
        <p:spPr>
          <a:xfrm>
            <a:off x="841248" y="2487168"/>
            <a:ext cx="5010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Termos desconhecidos registrados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6217920" y="2542032"/>
            <a:ext cx="237744" cy="237744"/>
          </a:xfrm>
          <a:prstGeom prst="rect">
            <a:avLst/>
          </a:prstGeom>
          <a:noFill/>
          <a:ln cap="flat" cmpd="sng" w="19050">
            <a:solidFill>
              <a:srgbClr val="E9D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2"/>
          <p:cNvSpPr/>
          <p:nvPr/>
        </p:nvSpPr>
        <p:spPr>
          <a:xfrm>
            <a:off x="6601968" y="2487168"/>
            <a:ext cx="5010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Problema central definido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57200" y="3017520"/>
            <a:ext cx="237744" cy="237744"/>
          </a:xfrm>
          <a:prstGeom prst="rect">
            <a:avLst/>
          </a:prstGeom>
          <a:noFill/>
          <a:ln cap="flat" cmpd="sng" w="19050">
            <a:solidFill>
              <a:srgbClr val="E9D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841248" y="2962656"/>
            <a:ext cx="5010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Causas e efeitos discutidos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6217920" y="3017520"/>
            <a:ext cx="237744" cy="237744"/>
          </a:xfrm>
          <a:prstGeom prst="rect">
            <a:avLst/>
          </a:prstGeom>
          <a:noFill/>
          <a:ln cap="flat" cmpd="sng" w="19050">
            <a:solidFill>
              <a:srgbClr val="E9D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2"/>
          <p:cNvSpPr/>
          <p:nvPr/>
        </p:nvSpPr>
        <p:spPr>
          <a:xfrm>
            <a:off x="6601968" y="2962656"/>
            <a:ext cx="5010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Hipóteses iniciais levantadas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57200" y="3493008"/>
            <a:ext cx="237744" cy="237744"/>
          </a:xfrm>
          <a:prstGeom prst="rect">
            <a:avLst/>
          </a:prstGeom>
          <a:noFill/>
          <a:ln cap="flat" cmpd="sng" w="19050">
            <a:solidFill>
              <a:srgbClr val="E9D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841248" y="3438144"/>
            <a:ext cx="5010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Objetivos de aprendizagem definidos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2"/>
          <p:cNvSpPr/>
          <p:nvPr/>
        </p:nvSpPr>
        <p:spPr>
          <a:xfrm>
            <a:off x="6217920" y="3493008"/>
            <a:ext cx="237744" cy="237744"/>
          </a:xfrm>
          <a:prstGeom prst="rect">
            <a:avLst/>
          </a:prstGeom>
          <a:noFill/>
          <a:ln cap="flat" cmpd="sng" w="19050">
            <a:solidFill>
              <a:srgbClr val="E9D7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6601968" y="3438144"/>
            <a:ext cx="5010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Board atualizado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457200" y="4160520"/>
            <a:ext cx="11277295" cy="914400"/>
          </a:xfrm>
          <a:prstGeom prst="roundRect">
            <a:avLst>
              <a:gd fmla="val 10000" name="adj"/>
            </a:avLst>
          </a:prstGeom>
          <a:solidFill>
            <a:srgbClr val="1632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2"/>
          <p:cNvSpPr/>
          <p:nvPr/>
        </p:nvSpPr>
        <p:spPr>
          <a:xfrm>
            <a:off x="822960" y="4160520"/>
            <a:ext cx="1054303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D7F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  <a:t>A SOLUÇÃO AINDA NÃO ESTÁ PRONTA.</a:t>
            </a:r>
            <a:br>
              <a:rPr b="1" i="0" lang="en-US" sz="1600" u="none" cap="none" strike="noStrike">
                <a:solidFill>
                  <a:srgbClr val="E9D7FE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INVESTIGAÇÃO COMEÇA AGORA.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457200" y="5349240"/>
            <a:ext cx="11277295" cy="868680"/>
          </a:xfrm>
          <a:prstGeom prst="roundRect">
            <a:avLst>
              <a:gd fmla="val 10526" name="adj"/>
            </a:avLst>
          </a:prstGeom>
          <a:solidFill>
            <a:srgbClr val="6E23E7"/>
          </a:solidFill>
          <a:ln>
            <a:noFill/>
          </a:ln>
          <a:effectLst>
            <a:outerShdw blurRad="76200" rotWithShape="0" algn="bl" dir="5400000" dist="25400">
              <a:srgbClr val="1F2937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640080" y="5349240"/>
            <a:ext cx="10908792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 QUE PRECISAMOS DESCOBRIR PARA PROPOR UMA SOLUÇÃO CONSISTENTE?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457200" y="6537960"/>
            <a:ext cx="8686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A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AB8"/>
                </a:solidFill>
                <a:latin typeface="Arial"/>
                <a:ea typeface="Arial"/>
                <a:cs typeface="Arial"/>
                <a:sym typeface="Arial"/>
              </a:rPr>
              <a:t>Programação para Web  •  PBL 1, Agenda em Conflito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11338560" y="6537960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9AB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9A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