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Abertura da Etapa II. Diferente da Etapa I, aqui há exposição dialogada: eu conduzo, mas a partir do que vocês já levantaram. Pergunta de abertura: o que o grupo encontrou sobre isso na investigação?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Retomem rapidamente os principais objetivos de aprendizagem levantados na Etapa I, sem entrar em detalhes técnicos ainda. Pergunta: como esse conceito se conecta ao problema?</a:t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Aplicar quiz via Socrative ou Kahoot. Cinco perguntas conceituais: cliente/servidor, Django, Model, banco de dados, métodos HTTP. Não revelar o gabarito agora — a discussão vem depois, junto com os slides técnicos.</a:t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 aplicação nasce de um problema real. Pergunta: por que essa informação precisa ser persistida? Vamos ligar cada etapa desse fluxo ao problema da Etapa I.</a:t>
            </a:r>
            <a:endParaRPr/>
          </a:p>
        </p:txBody>
      </p:sp>
      <p:sp>
        <p:nvSpPr>
          <p:cNvPr id="103" name="Google Shape;10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Esses termos vêm diretamente da narrativa do problema. Ainda não vamos escrever código — o objetivo é o grupo reconhecer o que é dado antes de modelar. O Model deveria conhecer essa informação?</a:t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Produto é só um exemplo didático genérico. Não vamos modelar o problema do PBL aqui — cada grupo faz essa transição sozinho, usando os dados que já identificaram.</a:t>
            </a:r>
            <a:endParaRPr/>
          </a:p>
        </p:txBody>
      </p:sp>
      <p:sp>
        <p:nvSpPr>
          <p:cNvPr id="170" name="Google Shape;1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Cada classe Python que herda de models.Model vira uma tabela. Pergunta: qual componente do Django lê essa classe e conversa com o banco? (resposta: o ORM — chega no slide 13).</a:t>
            </a:r>
            <a:endParaRPr/>
          </a:p>
        </p:txBody>
      </p:sp>
      <p:sp>
        <p:nvSpPr>
          <p:cNvPr id="207" name="Google Shape;20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Não é a lista completa de campos do Django — só os mais usados no início. Pergunta: no nosso problema, qual campo vocês usariam para 'horário de saída'? E para 'quantidade de passageiros'?</a:t>
            </a:r>
            <a:endParaRPr/>
          </a:p>
        </p:txBody>
      </p:sp>
      <p:sp>
        <p:nvSpPr>
          <p:cNvPr id="238" name="Google Shape;2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ForeignKey é a peça que conecta duas tabelas. Ainda não vamos definir toda a estrutura do PBL — só reconhecer que existe relação entre entidades. Pergunta: essa é uma regra da interface ou do modelo de dados?</a:t>
            </a:r>
            <a:endParaRPr/>
          </a:p>
        </p:txBody>
      </p:sp>
      <p:sp>
        <p:nvSpPr>
          <p:cNvPr id="276" name="Google Shape;27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Esse é o ponto que costuma confundir: escrever a classe Python não altera o banco sozinho. Precisamos de um passo intermediário — as migrations, que veremos agora.</a:t>
            </a:r>
            <a:endParaRPr/>
          </a:p>
        </p:txBody>
      </p:sp>
      <p:sp>
        <p:nvSpPr>
          <p:cNvPr id="304" name="Google Shape;3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makemigrations não toca no banco de dados ainda — só descreve a mudança. É como um rascunho da alteração. Pergunta: o que aconteceria se pulássemos essa etapa?</a:t>
            </a:r>
            <a:endParaRPr/>
          </a:p>
        </p:txBody>
      </p:sp>
      <p:sp>
        <p:nvSpPr>
          <p:cNvPr id="328" name="Google Shape;3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makemigrations prepara a receita, migrate executa a receita. Os dois são passos separados e sempre nessa ordem. Que operação estamos realizando aqui, sobre o banco ou sobre o código?</a:t>
            </a:r>
            <a:endParaRPr/>
          </a:p>
        </p:txBody>
      </p:sp>
      <p:sp>
        <p:nvSpPr>
          <p:cNvPr id="358" name="Google Shape;3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 ORM é a ponte: escrevemos Python, ele gera SQL por baixo. Não precisamos escrever SQL manualmente para operações comuns. Isso muda como pensamos sobre o banco?</a:t>
            </a:r>
            <a:endParaRPr/>
          </a:p>
        </p:txBody>
      </p:sp>
      <p:sp>
        <p:nvSpPr>
          <p:cNvPr id="396" name="Google Shape;39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objects.create() já salva direto no banco. Que operação CRUD está sendo realizada aqui? No nosso problema, o que seria criado quando um colaborador solicita um veículo?</a:t>
            </a:r>
            <a:endParaRPr/>
          </a:p>
        </p:txBody>
      </p:sp>
      <p:sp>
        <p:nvSpPr>
          <p:cNvPr id="422" name="Google Shape;4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READ é a operação mais usada em qualquer sistema. Pergunta: quando o colaborador quer ver a agenda de veículos, qual dessas duas consultas ele precisa?</a:t>
            </a:r>
            <a:endParaRPr/>
          </a:p>
        </p:txBody>
      </p:sp>
      <p:sp>
        <p:nvSpPr>
          <p:cNvPr id="463" name="Google Shape;46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UPDATE sempre segue esse padrão: buscar o registro, alterar o atributo em Python, chamar save(). Sem save(), a mudança não vai para o banco. Que consequência isso teria se esquecêssemos o save()?</a:t>
            </a:r>
            <a:endParaRPr/>
          </a:p>
        </p:txBody>
      </p:sp>
      <p:sp>
        <p:nvSpPr>
          <p:cNvPr id="495" name="Google Shape;49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DELETE é irreversível — não existe 'desfazer' automático. Pergunta: no problema do PBL, quem deveria poder cancelar uma reserva? Isso é uma regra de negócio importante para o grupo pensar.</a:t>
            </a:r>
            <a:endParaRPr/>
          </a:p>
        </p:txBody>
      </p:sp>
      <p:sp>
        <p:nvSpPr>
          <p:cNvPr id="522" name="Google Shape;52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CRUD é o vocabulário universal de qualquer sistema com persistência. Pergunta: pensando no ciclo de vida de uma reserva de veículo, quais dessas quatro operações certamente aparecem?</a:t>
            </a:r>
            <a:endParaRPr/>
          </a:p>
        </p:txBody>
      </p:sp>
      <p:sp>
        <p:nvSpPr>
          <p:cNvPr id="551" name="Google Shape;55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6" name="Google Shape;57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Qual componente recebe essa requisição primeiro? A URL. Ela é o mapa que diz para qual View mandar o pedido. Vamos ver os dois nos próximos slides.</a:t>
            </a:r>
            <a:endParaRPr/>
          </a:p>
        </p:txBody>
      </p:sp>
      <p:sp>
        <p:nvSpPr>
          <p:cNvPr id="577" name="Google Shape;57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path() liga um caminho de URL a uma função de View. Se o grupo criar '/reservas/', a que função ela precisaria apontar?</a:t>
            </a:r>
            <a:endParaRPr/>
          </a:p>
        </p:txBody>
      </p:sp>
      <p:sp>
        <p:nvSpPr>
          <p:cNvPr id="605" name="Google Shape;60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Toda View é uma função Python que recebe request e retorna uma resposta. É aqui que o ORM, as regras de negócio e o template se encontram.</a:t>
            </a:r>
            <a:endParaRPr/>
          </a:p>
        </p:txBody>
      </p:sp>
      <p:sp>
        <p:nvSpPr>
          <p:cNvPr id="631" name="Google Shape;63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GET busca informação, POST envia dados que alteram o sistema. Qual método o formulário de solicitação de veículo deveria usar? Não vamos aprofundar PUT, PATCH ou DELETE nesta implementação baseada em formulários.</a:t>
            </a:r>
            <a:endParaRPr/>
          </a:p>
        </p:txBody>
      </p:sp>
      <p:sp>
        <p:nvSpPr>
          <p:cNvPr id="661" name="Google Shape;66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Esse é o ciclo completo — o mesmo fluxo que vimos na Aula anterior, agora com o ORM e o banco no meio do caminho. Peçam para alguém do grupo narrar o fluxo em voz alta, de cima a baixo.</a:t>
            </a:r>
            <a:endParaRPr/>
          </a:p>
        </p:txBody>
      </p:sp>
      <p:sp>
        <p:nvSpPr>
          <p:cNvPr id="685" name="Google Shape;68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Todos esses conceitos aparecem explicitamente no problema. Não vou responder a pergunta agora — deixem a resposta amadurecer até o próximo slide.</a:t>
            </a:r>
            <a:endParaRPr/>
          </a:p>
        </p:txBody>
      </p:sp>
      <p:sp>
        <p:nvSpPr>
          <p:cNvPr id="722" name="Google Shape;72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Validação no navegador é conveniência; validação no servidor é garantia. Um usuário mal-intencionado pode pular o front-end totalmente. Qual seria a consequência de deixar essa validação apenas no navegador?</a:t>
            </a:r>
            <a:endParaRPr/>
          </a:p>
        </p:txBody>
      </p:sp>
      <p:sp>
        <p:nvSpPr>
          <p:cNvPr id="757" name="Google Shape;75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Não vou entregar a expressão lógica pronta agora. Pergunta para o grupo: que condição, comparando dois pares de horário, identifica sobreposição? Deixem isso como tarefa de investigação.</a:t>
            </a:r>
            <a:endParaRPr/>
          </a:p>
        </p:txBody>
      </p:sp>
      <p:sp>
        <p:nvSpPr>
          <p:cNvPr id="789" name="Google Shape;78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0" name="Google Shape;82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render() junta o template com os dados e devolve HTML pronto. É a ponte entre o back-end e o que o usuário efetivamente enxerga.</a:t>
            </a:r>
            <a:endParaRPr/>
          </a:p>
        </p:txBody>
      </p:sp>
      <p:sp>
        <p:nvSpPr>
          <p:cNvPr id="821" name="Google Shape;82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5" name="Google Shape;85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Não vamos aprofundar front-end aqui — isso já foi visto na aula anterior. O ponto é: o template Django recebe as três linguagens e devolve HTML pronto para o navegador.</a:t>
            </a:r>
            <a:endParaRPr/>
          </a:p>
        </p:txBody>
      </p:sp>
      <p:sp>
        <p:nvSpPr>
          <p:cNvPr id="856" name="Google Shape;85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3" name="Google Shape;88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Esse diagrama resume toda a aula. Peçam para um integrante de cada grupo apontar, nessa cadeia, em qual elo eles ainda têm mais dúvida.</a:t>
            </a:r>
            <a:endParaRPr/>
          </a:p>
        </p:txBody>
      </p:sp>
      <p:sp>
        <p:nvSpPr>
          <p:cNvPr id="884" name="Google Shape;88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7" name="Google Shape;92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Fechamento: os grupos voltam ao trabalho de fato. Circulem entre as equipes perguntando: como podemos testar se essa regra realmente funciona? Qual componente ainda não foi implementado?</a:t>
            </a:r>
            <a:endParaRPr/>
          </a:p>
        </p:txBody>
      </p:sp>
      <p:sp>
        <p:nvSpPr>
          <p:cNvPr id="928" name="Google Shape;92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46304" cy="34290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3429000"/>
            <a:ext cx="146304" cy="3429000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11480"/>
            <a:ext cx="1554480" cy="47542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530352" y="1188720"/>
            <a:ext cx="1783080" cy="365760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30352" y="118872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PBL 1 · ETAPA II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1691640"/>
            <a:ext cx="9601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PBL 1, ETAPA II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30352" y="2423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Do problema à implementação em Django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30352" y="306324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</a:t>
            </a:r>
            <a:b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Engenharia de Software</a:t>
            </a:r>
            <a:b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Prof. Me. Danilo Costa</a:t>
            </a:r>
            <a:b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30352" y="4709160"/>
            <a:ext cx="2377440" cy="1188720"/>
          </a:xfrm>
          <a:prstGeom prst="roundRect">
            <a:avLst>
              <a:gd fmla="val 7692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30352" y="4709160"/>
            <a:ext cx="2377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Django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182112" y="4709160"/>
            <a:ext cx="2377440" cy="1188720"/>
          </a:xfrm>
          <a:prstGeom prst="roundRect">
            <a:avLst>
              <a:gd fmla="val 7692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078224" y="4837176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078224" y="4837176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4"/>
              <a:buFont typeface="Calibri"/>
              <a:buNone/>
            </a:pPr>
            <a:r>
              <a:rPr b="0" i="0" lang="en-US" sz="166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🖥️</a:t>
            </a:r>
            <a:endParaRPr b="0" i="0" sz="1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182112" y="555040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Servidor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833872" y="4709160"/>
            <a:ext cx="2377440" cy="1188720"/>
          </a:xfrm>
          <a:prstGeom prst="roundRect">
            <a:avLst>
              <a:gd fmla="val 7692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729984" y="4837176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729984" y="4837176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4"/>
              <a:buFont typeface="Calibri"/>
              <a:buNone/>
            </a:pPr>
            <a:r>
              <a:rPr b="0" i="0" lang="en-US" sz="166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1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833872" y="555040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485632" y="4709160"/>
            <a:ext cx="2377440" cy="1188720"/>
          </a:xfrm>
          <a:prstGeom prst="roundRect">
            <a:avLst>
              <a:gd fmla="val 7692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9381744" y="4837176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9381744" y="4837176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4"/>
              <a:buFont typeface="Calibri"/>
              <a:buNone/>
            </a:pPr>
            <a:r>
              <a:rPr b="0" i="0" lang="en-US" sz="166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1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485632" y="555040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Aplicação Web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30352" y="6172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INVESTIGAR.   MODELAR.   IMPLEMENTAR.   VALIDAR.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46" name="Google Shape;4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 que conseguimos descobrir?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RETOMADA DO 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566160" y="1600200"/>
            <a:ext cx="5029200" cy="566928"/>
          </a:xfrm>
          <a:prstGeom prst="roundRect">
            <a:avLst>
              <a:gd fmla="val 12903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730752" y="1600200"/>
            <a:ext cx="47000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971032" y="2200046"/>
            <a:ext cx="219456" cy="11704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3566160" y="2350008"/>
            <a:ext cx="5029200" cy="566928"/>
          </a:xfrm>
          <a:prstGeom prst="roundRect">
            <a:avLst>
              <a:gd fmla="val 12903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730752" y="2350008"/>
            <a:ext cx="47000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Hipóteses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971032" y="2949854"/>
            <a:ext cx="219456" cy="11704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566160" y="3099816"/>
            <a:ext cx="5029200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730752" y="3099816"/>
            <a:ext cx="47000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Objetivos de aprendizagem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971032" y="3699662"/>
            <a:ext cx="219456" cy="11704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566160" y="3849624"/>
            <a:ext cx="5029200" cy="566928"/>
          </a:xfrm>
          <a:prstGeom prst="roundRect">
            <a:avLst>
              <a:gd fmla="val 12903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3730752" y="3849624"/>
            <a:ext cx="47000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Investigação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971032" y="4449470"/>
            <a:ext cx="219456" cy="11704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566160" y="4599432"/>
            <a:ext cx="5029200" cy="566928"/>
          </a:xfrm>
          <a:prstGeom prst="roundRect">
            <a:avLst>
              <a:gd fmla="val 12903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730752" y="4599432"/>
            <a:ext cx="47000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5577840"/>
            <a:ext cx="11277295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40080" y="557784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A INVESTIGAÇÃO DE VOCÊS REVELOU?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Vamos testar o que já sabemos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CHECAGEM DE CONHECIMENTOS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2758288" y="1691640"/>
            <a:ext cx="6217920" cy="27432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2758288" y="1691640"/>
            <a:ext cx="6217920" cy="310896"/>
          </a:xfrm>
          <a:prstGeom prst="roundRect">
            <a:avLst>
              <a:gd fmla="val 17647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758288" y="1947672"/>
            <a:ext cx="6217920" cy="54864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2886304" y="1805940"/>
            <a:ext cx="82296" cy="82296"/>
          </a:xfrm>
          <a:prstGeom prst="ellipse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060040" y="1805940"/>
            <a:ext cx="82296" cy="82296"/>
          </a:xfrm>
          <a:prstGeom prst="ellipse">
            <a:avLst/>
          </a:prstGeom>
          <a:solidFill>
            <a:srgbClr val="FDB0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233776" y="1805940"/>
            <a:ext cx="82296" cy="82296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361792" y="1755648"/>
            <a:ext cx="5468112" cy="18288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E9E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416656" y="1755648"/>
            <a:ext cx="53583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Courier New"/>
                <a:ea typeface="Courier New"/>
                <a:cs typeface="Courier New"/>
                <a:sym typeface="Courier New"/>
              </a:rPr>
              <a:t>socrative.com  ·  kahoot.it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2804008" y="2276856"/>
            <a:ext cx="6126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QUIZ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804008" y="2916936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5 perguntas conceituais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758288" y="3465576"/>
            <a:ext cx="1691640" cy="384048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2758288" y="3465576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Cliente e servidor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77944" y="3465576"/>
            <a:ext cx="1051560" cy="384048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577944" y="3465576"/>
            <a:ext cx="1051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Django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757520" y="3465576"/>
            <a:ext cx="1005840" cy="384048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757520" y="3465576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891376" y="3465576"/>
            <a:ext cx="1600200" cy="384048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891376" y="3465576"/>
            <a:ext cx="1600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8619592" y="3465576"/>
            <a:ext cx="1417320" cy="384048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8619592" y="3465576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Métodos HTTP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188720" y="4937760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RESPONDA INDIVIDUALMENTE.  DEPOIS DISCUTIREMOS.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107" name="Google Shape;10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Como transformar uma necessidade em uma aplicação?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DO PROBLEMA AO SOFTWARE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023360" y="1554480"/>
            <a:ext cx="4114800" cy="475488"/>
          </a:xfrm>
          <a:prstGeom prst="roundRect">
            <a:avLst>
              <a:gd fmla="val 1538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187952" y="1554480"/>
            <a:ext cx="3785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Problema real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971032" y="2056303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023360" y="2176272"/>
            <a:ext cx="4114800" cy="475488"/>
          </a:xfrm>
          <a:prstGeom prst="roundRect">
            <a:avLst>
              <a:gd fmla="val 1538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187952" y="2176272"/>
            <a:ext cx="3785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Informações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971032" y="2678095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023360" y="2798064"/>
            <a:ext cx="4114800" cy="475488"/>
          </a:xfrm>
          <a:prstGeom prst="roundRect">
            <a:avLst>
              <a:gd fmla="val 1538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187952" y="2798064"/>
            <a:ext cx="3785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Regras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971032" y="3299887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023360" y="3419856"/>
            <a:ext cx="4114800" cy="475488"/>
          </a:xfrm>
          <a:prstGeom prst="roundRect">
            <a:avLst>
              <a:gd fmla="val 15385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187952" y="3419856"/>
            <a:ext cx="3785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de dados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971032" y="3921679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023360" y="4041648"/>
            <a:ext cx="4114800" cy="475488"/>
          </a:xfrm>
          <a:prstGeom prst="roundRect">
            <a:avLst>
              <a:gd fmla="val 1538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187952" y="4041648"/>
            <a:ext cx="3785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Aplicação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971032" y="4543471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023360" y="4663440"/>
            <a:ext cx="4114800" cy="475488"/>
          </a:xfrm>
          <a:prstGeom prst="roundRect">
            <a:avLst>
              <a:gd fmla="val 1538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187952" y="4663440"/>
            <a:ext cx="378561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7200" y="5897880"/>
            <a:ext cx="11277295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40080" y="589788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O SISTEMA PRECISA REPRESENTAR?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Quais dados não podem desaparecer?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IDENTIFICAÇÃO DE DADOS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7200" y="1691640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30352" y="1691640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Solicitante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136392" y="1691640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209544" y="1691640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Setor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815584" y="1691640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888736" y="1691640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8494776" y="1691640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8567928" y="1691640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Origem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57200" y="2404872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30352" y="2404872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Destino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136392" y="2404872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209544" y="2404872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815584" y="2404872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888736" y="2404872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Horário de saída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8494776" y="2404872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567928" y="2404872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Horário de retorno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57200" y="3118104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30352" y="3118104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Passageiros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136392" y="3118104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209544" y="3118104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Veículo / categoria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5815584" y="3118104"/>
            <a:ext cx="2514600" cy="566928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888736" y="3118104"/>
            <a:ext cx="236829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Observações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57200" y="5806440"/>
            <a:ext cx="11277295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640080" y="580644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QUAIS DESSES ELEMENTOS REPRESENTAM DADOS DO SISTEMA?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174" name="Google Shape;1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Do mundo real para o modelo de dados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MODELAGEM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457200" y="1691640"/>
            <a:ext cx="1915302" cy="777240"/>
          </a:xfrm>
          <a:prstGeom prst="roundRect">
            <a:avLst>
              <a:gd fmla="val 9412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12064" y="1764792"/>
            <a:ext cx="1805574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Conceito do domínio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2422246" y="197967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683398" y="1691640"/>
            <a:ext cx="1915302" cy="777240"/>
          </a:xfrm>
          <a:prstGeom prst="roundRect">
            <a:avLst>
              <a:gd fmla="val 9412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2738262" y="1764792"/>
            <a:ext cx="1805574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Entidade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648444" y="197967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909596" y="1691640"/>
            <a:ext cx="1915302" cy="777240"/>
          </a:xfrm>
          <a:prstGeom prst="roundRect">
            <a:avLst>
              <a:gd fmla="val 9412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964460" y="1764792"/>
            <a:ext cx="1805574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874642" y="197967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135795" y="1691640"/>
            <a:ext cx="1915302" cy="777240"/>
          </a:xfrm>
          <a:prstGeom prst="roundRect">
            <a:avLst>
              <a:gd fmla="val 9412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7190659" y="1764792"/>
            <a:ext cx="1805574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Model Django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9100840" y="197967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9361993" y="1691640"/>
            <a:ext cx="1915302" cy="777240"/>
          </a:xfrm>
          <a:prstGeom prst="roundRect">
            <a:avLst>
              <a:gd fmla="val 9412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9416857" y="1764792"/>
            <a:ext cx="1805574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Tabela no banco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57200" y="3246120"/>
            <a:ext cx="2560320" cy="1280160"/>
          </a:xfrm>
          <a:prstGeom prst="roundRect">
            <a:avLst>
              <a:gd fmla="val 5714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85800" y="3383280"/>
            <a:ext cx="21031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PRODUTO</a:t>
            </a:r>
            <a:b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nome</a:t>
            </a:r>
            <a:b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preço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200400" y="3785616"/>
            <a:ext cx="41148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794760" y="3246120"/>
            <a:ext cx="2011680" cy="1280160"/>
          </a:xfrm>
          <a:prstGeom prst="roundRect">
            <a:avLst>
              <a:gd fmla="val 5714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794760" y="324612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989320" y="3785616"/>
            <a:ext cx="41148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583680" y="3246120"/>
            <a:ext cx="2011680" cy="1280160"/>
          </a:xfrm>
          <a:prstGeom prst="roundRect">
            <a:avLst>
              <a:gd fmla="val 5714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583680" y="324612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Tabela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57200" y="4892040"/>
            <a:ext cx="10820095" cy="960120"/>
          </a:xfrm>
          <a:prstGeom prst="roundRect">
            <a:avLst>
              <a:gd fmla="val 9524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822960" y="4892040"/>
            <a:ext cx="1008583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Os elementos identificados no slide anterior seguem esse mesmo caminho, do domínio até a tabela. A modelagem completa é trabalho do grupo.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211" name="Google Shape;2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Como o Django representa os dados?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57200" y="1691640"/>
            <a:ext cx="5650992" cy="3017520"/>
          </a:xfrm>
          <a:prstGeom prst="roundRect">
            <a:avLst>
              <a:gd fmla="val 3030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94944" y="1874520"/>
            <a:ext cx="5193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94944" y="2313432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from django.db import models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94944" y="2696108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class Produto(models.Model):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694944" y="2942996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nome = models.CharField(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94944" y="3189884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    max_length=100)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694944" y="3436772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preco = models.DecimalField(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694944" y="3683660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    max_digits=10,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694944" y="3930548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    decimal_places=2)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6720840" y="1691640"/>
            <a:ext cx="4553712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885432" y="1691640"/>
            <a:ext cx="42245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Classe Python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8887968" y="2389327"/>
            <a:ext cx="219456" cy="20482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720840" y="2651760"/>
            <a:ext cx="4553712" cy="640080"/>
          </a:xfrm>
          <a:prstGeom prst="roundRect">
            <a:avLst>
              <a:gd fmla="val 11429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885432" y="2651760"/>
            <a:ext cx="42245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8887968" y="3349447"/>
            <a:ext cx="219456" cy="20482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720840" y="3611880"/>
            <a:ext cx="4553712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885432" y="3611880"/>
            <a:ext cx="422452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Tabela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720840" y="4114800"/>
            <a:ext cx="4553712" cy="685800"/>
          </a:xfrm>
          <a:prstGeom prst="roundRect">
            <a:avLst>
              <a:gd fmla="val 10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6949440" y="4114800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Um Model representa uma estrutura persistente da aplicação.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242" name="Google Shape;2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0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Cada informação tem um tipo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TIPOS DE CAMPO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57200" y="1691640"/>
            <a:ext cx="2606040" cy="960120"/>
          </a:xfrm>
          <a:prstGeom prst="roundRect">
            <a:avLst>
              <a:gd fmla="val 761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03504" y="1819656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CharField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03504" y="220370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texto curto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246120" y="1691640"/>
            <a:ext cx="2606040" cy="960120"/>
          </a:xfrm>
          <a:prstGeom prst="roundRect">
            <a:avLst>
              <a:gd fmla="val 761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3392424" y="1819656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TextField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3392424" y="220370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texto maior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6035040" y="1691640"/>
            <a:ext cx="2606040" cy="960120"/>
          </a:xfrm>
          <a:prstGeom prst="roundRect">
            <a:avLst>
              <a:gd fmla="val 761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6181344" y="1819656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IntegerField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6181344" y="220370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número inteiro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8823960" y="1691640"/>
            <a:ext cx="2606040" cy="960120"/>
          </a:xfrm>
          <a:prstGeom prst="roundRect">
            <a:avLst>
              <a:gd fmla="val 761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8970264" y="1819656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DecimalField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8970264" y="220370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valores decimais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57200" y="2834640"/>
            <a:ext cx="2606040" cy="960120"/>
          </a:xfrm>
          <a:prstGeom prst="roundRect">
            <a:avLst>
              <a:gd fmla="val 761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03504" y="2962656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DateField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03504" y="334670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3246120" y="2834640"/>
            <a:ext cx="2606040" cy="960120"/>
          </a:xfrm>
          <a:prstGeom prst="roundRect">
            <a:avLst>
              <a:gd fmla="val 761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3392424" y="2962656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TimeField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3392424" y="334670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horário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035040" y="2834640"/>
            <a:ext cx="2606040" cy="960120"/>
          </a:xfrm>
          <a:prstGeom prst="roundRect">
            <a:avLst>
              <a:gd fmla="val 761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181344" y="2962656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DateTimeField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181344" y="334670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data + horário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8823960" y="2834640"/>
            <a:ext cx="2606040" cy="960120"/>
          </a:xfrm>
          <a:prstGeom prst="roundRect">
            <a:avLst>
              <a:gd fmla="val 761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8970264" y="2962656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BooleanField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8970264" y="3346704"/>
            <a:ext cx="23134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verdadeiro / falso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57200" y="4114800"/>
            <a:ext cx="10820095" cy="777240"/>
          </a:xfrm>
          <a:prstGeom prst="roundRect">
            <a:avLst>
              <a:gd fmla="val 1176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822960" y="4114800"/>
            <a:ext cx="100858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Pense nos dados do problema: horário é TimeField ou DateTimeField? Passageiros é IntegerField? A escolha certa é do grupo.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280" name="Google Shape;2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1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Os dados não existem isolados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RELACIONAMENTOS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57200" y="1737360"/>
            <a:ext cx="5120640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621792" y="1737360"/>
            <a:ext cx="479145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2907792" y="2426818"/>
            <a:ext cx="219456" cy="17556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57200" y="2651760"/>
            <a:ext cx="5120640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621792" y="2692908"/>
            <a:ext cx="4791456" cy="3328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Pedidos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621792" y="2971800"/>
            <a:ext cx="4791456" cy="294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um cliente pode possuir vários pedidos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6080760" y="1737360"/>
            <a:ext cx="5650992" cy="2286000"/>
          </a:xfrm>
          <a:prstGeom prst="roundRect">
            <a:avLst>
              <a:gd fmla="val 4000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6318504" y="1920240"/>
            <a:ext cx="5193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6318504" y="2359152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cliente = models.ForeignKey(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6318504" y="2606040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Cliente,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6318504" y="2852928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on_delete=models.CASCADE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6318504" y="3099816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6318504" y="3566160"/>
            <a:ext cx="1234440" cy="292608"/>
          </a:xfrm>
          <a:prstGeom prst="roundRect">
            <a:avLst>
              <a:gd fmla="val 50000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6318504" y="356616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ForeignKey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457200" y="4206240"/>
            <a:ext cx="11277295" cy="685800"/>
          </a:xfrm>
          <a:prstGeom prst="roundRect">
            <a:avLst>
              <a:gd fmla="val 10667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731520" y="4206240"/>
            <a:ext cx="1072591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No nosso problema, quem se relaciona com quem? Colaborador e reserva? Veículo e reserva?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308" name="Google Shape;30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2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Criar um Model não cria automaticamente uma tabela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MIGRATIONS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4023360" y="1737360"/>
            <a:ext cx="4114800" cy="685800"/>
          </a:xfrm>
          <a:prstGeom prst="roundRect">
            <a:avLst>
              <a:gd fmla="val 10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4187952" y="1737360"/>
            <a:ext cx="378561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Model Python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5971032" y="2488997"/>
            <a:ext cx="219456" cy="23408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4023360" y="2788920"/>
            <a:ext cx="4114800" cy="685800"/>
          </a:xfrm>
          <a:prstGeom prst="roundRect">
            <a:avLst>
              <a:gd fmla="val 10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4187952" y="2788920"/>
            <a:ext cx="378561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5971032" y="3540557"/>
            <a:ext cx="219456" cy="23408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4023360" y="3840480"/>
            <a:ext cx="4114800" cy="685800"/>
          </a:xfrm>
          <a:prstGeom prst="roundRect">
            <a:avLst>
              <a:gd fmla="val 10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4187952" y="3840480"/>
            <a:ext cx="378561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457200" y="4709160"/>
            <a:ext cx="11277295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640080" y="470916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 O DJANGO TRANSFORMA NOSSO MODEL EM ESTRUTURA DE BANCO?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4312768" y="5486400"/>
            <a:ext cx="3108960" cy="502920"/>
          </a:xfrm>
          <a:prstGeom prst="roundRect">
            <a:avLst>
              <a:gd fmla="val 50000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4312768" y="548640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MIGRATIONS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332" name="Google Shape;3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3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Registrando as mudanças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MIGRATIONS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457200" y="1737360"/>
            <a:ext cx="5303520" cy="1188720"/>
          </a:xfrm>
          <a:prstGeom prst="roundRect">
            <a:avLst>
              <a:gd fmla="val 4615" name="adj"/>
            </a:avLst>
          </a:prstGeom>
          <a:solidFill>
            <a:srgbClr val="0B1424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457200" y="1737360"/>
            <a:ext cx="5303520" cy="310896"/>
          </a:xfrm>
          <a:prstGeom prst="roundRect">
            <a:avLst>
              <a:gd fmla="val 17647" name="adj"/>
            </a:avLst>
          </a:prstGeom>
          <a:solidFill>
            <a:srgbClr val="0B1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457200" y="1993392"/>
            <a:ext cx="5303520" cy="54864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585216" y="1851660"/>
            <a:ext cx="82296" cy="82296"/>
          </a:xfrm>
          <a:prstGeom prst="ellipse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758952" y="1851660"/>
            <a:ext cx="82296" cy="82296"/>
          </a:xfrm>
          <a:prstGeom prst="ellipse">
            <a:avLst/>
          </a:prstGeom>
          <a:solidFill>
            <a:srgbClr val="FDB0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932688" y="1851660"/>
            <a:ext cx="82296" cy="82296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1115568" y="1737360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67085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731520" y="2304288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E3A6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FE3A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python manage.py makemigrations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6217920" y="1737360"/>
            <a:ext cx="5486400" cy="502920"/>
          </a:xfrm>
          <a:prstGeom prst="roundRect">
            <a:avLst>
              <a:gd fmla="val 1454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6382512" y="1737360"/>
            <a:ext cx="5157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Alteramos o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8851392" y="2269907"/>
            <a:ext cx="219456" cy="105339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6217920" y="2404872"/>
            <a:ext cx="5486400" cy="502920"/>
          </a:xfrm>
          <a:prstGeom prst="roundRect">
            <a:avLst>
              <a:gd fmla="val 14545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6382512" y="2404872"/>
            <a:ext cx="5157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makemigrations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8851392" y="2937419"/>
            <a:ext cx="219456" cy="105339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6217920" y="3072384"/>
            <a:ext cx="5486400" cy="502920"/>
          </a:xfrm>
          <a:prstGeom prst="roundRect">
            <a:avLst>
              <a:gd fmla="val 1454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6382512" y="3072384"/>
            <a:ext cx="51572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Arquivo de migration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457200" y="3291840"/>
            <a:ext cx="5303520" cy="1234440"/>
          </a:xfrm>
          <a:prstGeom prst="roundRect">
            <a:avLst>
              <a:gd fmla="val 6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685800" y="3291840"/>
            <a:ext cx="48463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O Django identifica alterações nos Models e cria uma descrição das mudanças necessárias.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362" name="Google Shape;3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4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Aplicando as mudanças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MIGRATIONS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457200" y="1737360"/>
            <a:ext cx="5303520" cy="1188720"/>
          </a:xfrm>
          <a:prstGeom prst="roundRect">
            <a:avLst>
              <a:gd fmla="val 4615" name="adj"/>
            </a:avLst>
          </a:prstGeom>
          <a:solidFill>
            <a:srgbClr val="0B1424"/>
          </a:solidFill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457200" y="1737360"/>
            <a:ext cx="5303520" cy="310896"/>
          </a:xfrm>
          <a:prstGeom prst="roundRect">
            <a:avLst>
              <a:gd fmla="val 17647" name="adj"/>
            </a:avLst>
          </a:prstGeom>
          <a:solidFill>
            <a:srgbClr val="0B1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457200" y="1993392"/>
            <a:ext cx="5303520" cy="54864"/>
          </a:xfrm>
          <a:prstGeom prst="rect">
            <a:avLst/>
          </a:prstGeom>
          <a:solidFill>
            <a:srgbClr val="0B14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585216" y="1851660"/>
            <a:ext cx="82296" cy="82296"/>
          </a:xfrm>
          <a:prstGeom prst="ellipse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758952" y="1851660"/>
            <a:ext cx="82296" cy="82296"/>
          </a:xfrm>
          <a:prstGeom prst="ellipse">
            <a:avLst/>
          </a:prstGeom>
          <a:solidFill>
            <a:srgbClr val="FDB0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932688" y="1851660"/>
            <a:ext cx="82296" cy="82296"/>
          </a:xfrm>
          <a:prstGeom prst="ellipse">
            <a:avLst/>
          </a:prstGeom>
          <a:solidFill>
            <a:srgbClr val="12B7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1115568" y="1737360"/>
            <a:ext cx="4480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67085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731520" y="2304288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E3A6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6FE3A6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python manage.py migrate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6217920" y="1737360"/>
            <a:ext cx="5486400" cy="438912"/>
          </a:xfrm>
          <a:prstGeom prst="roundRect">
            <a:avLst>
              <a:gd fmla="val 16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6382512" y="1737360"/>
            <a:ext cx="51572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Migration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8851392" y="2199315"/>
            <a:ext cx="219456" cy="819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6217920" y="2304288"/>
            <a:ext cx="5486400" cy="438912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6382512" y="2304288"/>
            <a:ext cx="51572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migrate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8851392" y="2766243"/>
            <a:ext cx="219456" cy="819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6217920" y="2871216"/>
            <a:ext cx="5486400" cy="438912"/>
          </a:xfrm>
          <a:prstGeom prst="roundRect">
            <a:avLst>
              <a:gd fmla="val 16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6382512" y="2871216"/>
            <a:ext cx="51572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8851392" y="3333171"/>
            <a:ext cx="219456" cy="819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6217920" y="3438144"/>
            <a:ext cx="5486400" cy="438912"/>
          </a:xfrm>
          <a:prstGeom prst="roundRect">
            <a:avLst>
              <a:gd fmla="val 16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6382512" y="3438144"/>
            <a:ext cx="51572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Tabelas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457200" y="3291840"/>
            <a:ext cx="2103120" cy="1280160"/>
          </a:xfrm>
          <a:prstGeom prst="roundRect">
            <a:avLst>
              <a:gd fmla="val 6429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594360" y="3474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makemigrations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594360" y="39776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→ prepara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2606040" y="3291840"/>
            <a:ext cx="548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5D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D0D5DD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3154680" y="3291840"/>
            <a:ext cx="2103120" cy="1280160"/>
          </a:xfrm>
          <a:prstGeom prst="roundRect">
            <a:avLst>
              <a:gd fmla="val 6429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3291840" y="3474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migrate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3291840" y="39776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D7F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9D7FE"/>
                </a:solidFill>
                <a:latin typeface="Arial"/>
                <a:ea typeface="Arial"/>
                <a:cs typeface="Arial"/>
                <a:sym typeface="Arial"/>
              </a:rPr>
              <a:t>→ aplica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400" name="Google Shape;4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5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Python conversando com o banco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ORM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5"/>
          <p:cNvSpPr/>
          <p:nvPr/>
        </p:nvSpPr>
        <p:spPr>
          <a:xfrm>
            <a:off x="4023360" y="1600200"/>
            <a:ext cx="4114800" cy="566928"/>
          </a:xfrm>
          <a:prstGeom prst="roundRect">
            <a:avLst>
              <a:gd fmla="val 12903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4187952" y="1600200"/>
            <a:ext cx="37856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Código Python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5971032" y="2200046"/>
            <a:ext cx="219456" cy="11704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4023360" y="2350008"/>
            <a:ext cx="4114800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4187952" y="2350008"/>
            <a:ext cx="37856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Django ORM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5971032" y="2949854"/>
            <a:ext cx="219456" cy="11704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5"/>
          <p:cNvSpPr/>
          <p:nvPr/>
        </p:nvSpPr>
        <p:spPr>
          <a:xfrm>
            <a:off x="4023360" y="3099816"/>
            <a:ext cx="4114800" cy="566928"/>
          </a:xfrm>
          <a:prstGeom prst="roundRect">
            <a:avLst>
              <a:gd fmla="val 12903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4187952" y="3099816"/>
            <a:ext cx="37856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5971032" y="3699662"/>
            <a:ext cx="219456" cy="11704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4023360" y="3849624"/>
            <a:ext cx="4114800" cy="566928"/>
          </a:xfrm>
          <a:prstGeom prst="roundRect">
            <a:avLst>
              <a:gd fmla="val 12903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5"/>
          <p:cNvSpPr/>
          <p:nvPr/>
        </p:nvSpPr>
        <p:spPr>
          <a:xfrm>
            <a:off x="4187952" y="3849624"/>
            <a:ext cx="378561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1645920" y="4709160"/>
            <a:ext cx="8897112" cy="594360"/>
          </a:xfrm>
          <a:prstGeom prst="roundRect">
            <a:avLst>
              <a:gd fmla="val 49231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1645920" y="4709160"/>
            <a:ext cx="88971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ORM = Object-Relational Mapping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1188720" y="5486400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 ORM permite trabalhar com registros utilizando objetos Python.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6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426" name="Google Shape;4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6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6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6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6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CRUD · CREATE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6"/>
          <p:cNvSpPr/>
          <p:nvPr/>
        </p:nvSpPr>
        <p:spPr>
          <a:xfrm>
            <a:off x="457200" y="1691640"/>
            <a:ext cx="5303520" cy="2103120"/>
          </a:xfrm>
          <a:prstGeom prst="roundRect">
            <a:avLst>
              <a:gd fmla="val 4348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694944" y="1874520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6"/>
          <p:cNvSpPr/>
          <p:nvPr/>
        </p:nvSpPr>
        <p:spPr>
          <a:xfrm>
            <a:off x="694944" y="2313432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Produto.objects.create(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6"/>
          <p:cNvSpPr/>
          <p:nvPr/>
        </p:nvSpPr>
        <p:spPr>
          <a:xfrm>
            <a:off x="694944" y="2560320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nome="Notebook",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6"/>
          <p:cNvSpPr/>
          <p:nvPr/>
        </p:nvSpPr>
        <p:spPr>
          <a:xfrm>
            <a:off x="694944" y="2807208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preco=3500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6"/>
          <p:cNvSpPr/>
          <p:nvPr/>
        </p:nvSpPr>
        <p:spPr>
          <a:xfrm>
            <a:off x="694944" y="3054096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694944" y="3337560"/>
            <a:ext cx="1143000" cy="292608"/>
          </a:xfrm>
          <a:prstGeom prst="roundRect">
            <a:avLst>
              <a:gd fmla="val 50000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694944" y="333756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 de CRUD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457200" y="3977640"/>
            <a:ext cx="1092708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512064" y="4050792"/>
            <a:ext cx="9829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1599651" y="419709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1860804" y="3977640"/>
            <a:ext cx="1092708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1915668" y="4050792"/>
            <a:ext cx="9829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3003255" y="419709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3264408" y="3977640"/>
            <a:ext cx="1092708" cy="640080"/>
          </a:xfrm>
          <a:prstGeom prst="roundRect">
            <a:avLst>
              <a:gd fmla="val 11429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3319272" y="4050792"/>
            <a:ext cx="9829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4406859" y="419709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4668012" y="3977640"/>
            <a:ext cx="1092708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4722876" y="4050792"/>
            <a:ext cx="9829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Banco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6080760" y="1691640"/>
            <a:ext cx="5650992" cy="1234440"/>
          </a:xfrm>
          <a:prstGeom prst="roundRect">
            <a:avLst>
              <a:gd fmla="val 592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6080760" y="1783080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7964424" y="1783080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NOME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9848088" y="1783080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PREÇO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6080760" y="2194560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7964424" y="2194560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Notebook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9848088" y="2194560"/>
            <a:ext cx="188366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3500.00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6080760" y="2606040"/>
            <a:ext cx="5650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B76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2B76A"/>
                </a:solidFill>
                <a:latin typeface="Arial"/>
                <a:ea typeface="Arial"/>
                <a:cs typeface="Arial"/>
                <a:sym typeface="Arial"/>
              </a:rPr>
              <a:t>registro criado 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6080760" y="3200400"/>
            <a:ext cx="5650992" cy="1051560"/>
          </a:xfrm>
          <a:prstGeom prst="roundRect">
            <a:avLst>
              <a:gd fmla="val 782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6355080" y="3200400"/>
            <a:ext cx="51023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Toda operação que grava um novo registro no banco é um CREATE.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7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467" name="Google Shape;4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7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CRUD · READ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7"/>
          <p:cNvSpPr/>
          <p:nvPr/>
        </p:nvSpPr>
        <p:spPr>
          <a:xfrm>
            <a:off x="457200" y="1691640"/>
            <a:ext cx="5303520" cy="2011680"/>
          </a:xfrm>
          <a:prstGeom prst="roundRect">
            <a:avLst>
              <a:gd fmla="val 4545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7"/>
          <p:cNvSpPr/>
          <p:nvPr/>
        </p:nvSpPr>
        <p:spPr>
          <a:xfrm>
            <a:off x="694944" y="1874520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694944" y="2313432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Produto.objects.all()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694944" y="2696108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Produto.objects.get(id=1)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694944" y="3246120"/>
            <a:ext cx="1143000" cy="292608"/>
          </a:xfrm>
          <a:prstGeom prst="roundRect">
            <a:avLst>
              <a:gd fmla="val 50000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694944" y="324612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 de CRUD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457200" y="3977640"/>
            <a:ext cx="1560576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512064" y="4050792"/>
            <a:ext cx="14508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ORM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2067519" y="419709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2328672" y="3977640"/>
            <a:ext cx="1560576" cy="640080"/>
          </a:xfrm>
          <a:prstGeom prst="roundRect">
            <a:avLst>
              <a:gd fmla="val 11429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7"/>
          <p:cNvSpPr/>
          <p:nvPr/>
        </p:nvSpPr>
        <p:spPr>
          <a:xfrm>
            <a:off x="2383536" y="4050792"/>
            <a:ext cx="14508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3938991" y="419709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4200144" y="3977640"/>
            <a:ext cx="1560576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4255008" y="4050792"/>
            <a:ext cx="14508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6080760" y="1691640"/>
            <a:ext cx="5650992" cy="2926080"/>
          </a:xfrm>
          <a:prstGeom prst="roundRect">
            <a:avLst>
              <a:gd fmla="val 2813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6309360" y="192024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all()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6309360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retorna todos os registros da tabela.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9" name="Google Shape;489;p17"/>
          <p:cNvCxnSpPr/>
          <p:nvPr/>
        </p:nvCxnSpPr>
        <p:spPr>
          <a:xfrm>
            <a:off x="6309360" y="2880360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0" name="Google Shape;490;p17"/>
          <p:cNvSpPr/>
          <p:nvPr/>
        </p:nvSpPr>
        <p:spPr>
          <a:xfrm>
            <a:off x="6309360" y="306324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6E23E7"/>
                </a:solidFill>
                <a:latin typeface="Courier New"/>
                <a:ea typeface="Courier New"/>
                <a:cs typeface="Courier New"/>
                <a:sym typeface="Courier New"/>
              </a:rPr>
              <a:t>get(id=1)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6309360" y="3429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retorna um único registro específico.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499" name="Google Shape;49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8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8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CRUD · UPDATE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8"/>
          <p:cNvSpPr/>
          <p:nvPr/>
        </p:nvSpPr>
        <p:spPr>
          <a:xfrm>
            <a:off x="457200" y="1691640"/>
            <a:ext cx="5303520" cy="2103120"/>
          </a:xfrm>
          <a:prstGeom prst="roundRect">
            <a:avLst>
              <a:gd fmla="val 4348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8"/>
          <p:cNvSpPr/>
          <p:nvPr/>
        </p:nvSpPr>
        <p:spPr>
          <a:xfrm>
            <a:off x="694944" y="1874520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694944" y="2313432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produto = Produto.objects.get(id=1)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694944" y="2696108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produto.preco = 3200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694944" y="2942996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produto.save()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694944" y="3337560"/>
            <a:ext cx="1143000" cy="292608"/>
          </a:xfrm>
          <a:prstGeom prst="roundRect">
            <a:avLst>
              <a:gd fmla="val 50000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694944" y="333756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 de CRUD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8"/>
          <p:cNvSpPr/>
          <p:nvPr/>
        </p:nvSpPr>
        <p:spPr>
          <a:xfrm>
            <a:off x="6080760" y="1691640"/>
            <a:ext cx="5650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7717536" y="2011680"/>
            <a:ext cx="2377440" cy="777240"/>
          </a:xfrm>
          <a:prstGeom prst="roundRect">
            <a:avLst>
              <a:gd fmla="val 9412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7717536" y="201168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3500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8"/>
          <p:cNvSpPr/>
          <p:nvPr/>
        </p:nvSpPr>
        <p:spPr>
          <a:xfrm>
            <a:off x="8796528" y="2926080"/>
            <a:ext cx="219456" cy="32004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8"/>
          <p:cNvSpPr/>
          <p:nvPr/>
        </p:nvSpPr>
        <p:spPr>
          <a:xfrm>
            <a:off x="9180576" y="286207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6080760" y="3383280"/>
            <a:ext cx="56509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DEPOIS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7717536" y="3703320"/>
            <a:ext cx="2377440" cy="777240"/>
          </a:xfrm>
          <a:prstGeom prst="roundRect">
            <a:avLst>
              <a:gd fmla="val 9412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7717536" y="370332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rier New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3200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9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526" name="Google Shape;5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9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9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CRUD · DELETE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457200" y="1691640"/>
            <a:ext cx="5303520" cy="1737360"/>
          </a:xfrm>
          <a:prstGeom prst="roundRect">
            <a:avLst>
              <a:gd fmla="val 526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694944" y="1874520"/>
            <a:ext cx="4846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9"/>
          <p:cNvSpPr/>
          <p:nvPr/>
        </p:nvSpPr>
        <p:spPr>
          <a:xfrm>
            <a:off x="694944" y="2313432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produto = Produto.objects.get(id=1)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694944" y="2696108"/>
            <a:ext cx="482803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produto.delete()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694944" y="2971800"/>
            <a:ext cx="1143000" cy="292608"/>
          </a:xfrm>
          <a:prstGeom prst="roundRect">
            <a:avLst>
              <a:gd fmla="val 50000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694944" y="2971800"/>
            <a:ext cx="1143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 de CRUD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457200" y="3657600"/>
            <a:ext cx="1560576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512064" y="3730752"/>
            <a:ext cx="14508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Registro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2067519" y="387705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2328672" y="3657600"/>
            <a:ext cx="1560576" cy="640080"/>
          </a:xfrm>
          <a:prstGeom prst="roundRect">
            <a:avLst>
              <a:gd fmla="val 11429" name="adj"/>
            </a:avLst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2383536" y="3730752"/>
            <a:ext cx="14508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3938991" y="387705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4200144" y="3657600"/>
            <a:ext cx="1560576" cy="640080"/>
          </a:xfrm>
          <a:prstGeom prst="roundRect">
            <a:avLst>
              <a:gd fmla="val 11429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4255008" y="3730752"/>
            <a:ext cx="145084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Banco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6080760" y="1691640"/>
            <a:ext cx="5650992" cy="2606040"/>
          </a:xfrm>
          <a:prstGeom prst="roundRect">
            <a:avLst>
              <a:gd fmla="val 3158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6355080" y="1965960"/>
            <a:ext cx="51023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exclusão remove o registro permanentemente do banco de dados.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6355080" y="2697480"/>
            <a:ext cx="510235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Antes de excluir, pergunte: essa operação deveria exigir alguma confirmação ou regra de negócio?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0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555" name="Google Shape;55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0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Quatro operações fundamentais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SÍNTESE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457200" y="1737360"/>
            <a:ext cx="2514600" cy="2194560"/>
          </a:xfrm>
          <a:prstGeom prst="roundRect">
            <a:avLst>
              <a:gd fmla="val 41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594360" y="20574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CREATE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594360" y="256032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criar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3227832" y="1737360"/>
            <a:ext cx="2514600" cy="2194560"/>
          </a:xfrm>
          <a:prstGeom prst="roundRect">
            <a:avLst>
              <a:gd fmla="val 4167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3364992" y="20574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3364992" y="256032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consultar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5998464" y="1737360"/>
            <a:ext cx="2514600" cy="2194560"/>
          </a:xfrm>
          <a:prstGeom prst="roundRect">
            <a:avLst>
              <a:gd fmla="val 4167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0"/>
          <p:cNvSpPr/>
          <p:nvPr/>
        </p:nvSpPr>
        <p:spPr>
          <a:xfrm>
            <a:off x="6135624" y="20574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6135624" y="256032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atualizar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8769096" y="1737360"/>
            <a:ext cx="2514600" cy="2194560"/>
          </a:xfrm>
          <a:prstGeom prst="roundRect">
            <a:avLst>
              <a:gd fmla="val 41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8906256" y="20574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8906256" y="256032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excluir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0"/>
          <p:cNvSpPr/>
          <p:nvPr/>
        </p:nvSpPr>
        <p:spPr>
          <a:xfrm>
            <a:off x="457200" y="4343400"/>
            <a:ext cx="11277295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640080" y="434340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QUAIS DESSAS OPERAÇÕES O PROBLEMA EXIGE?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581" name="Google Shape;5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21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Precisamos de uma rota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1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1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1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URLS E VIEWS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1"/>
          <p:cNvSpPr/>
          <p:nvPr/>
        </p:nvSpPr>
        <p:spPr>
          <a:xfrm>
            <a:off x="4023360" y="1554480"/>
            <a:ext cx="4114800" cy="502920"/>
          </a:xfrm>
          <a:prstGeom prst="roundRect">
            <a:avLst>
              <a:gd fmla="val 1454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1"/>
          <p:cNvSpPr/>
          <p:nvPr/>
        </p:nvSpPr>
        <p:spPr>
          <a:xfrm>
            <a:off x="4187952" y="1554480"/>
            <a:ext cx="3785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1"/>
          <p:cNvSpPr/>
          <p:nvPr/>
        </p:nvSpPr>
        <p:spPr>
          <a:xfrm>
            <a:off x="5971032" y="2083735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1"/>
          <p:cNvSpPr/>
          <p:nvPr/>
        </p:nvSpPr>
        <p:spPr>
          <a:xfrm>
            <a:off x="4023360" y="2203704"/>
            <a:ext cx="4114800" cy="502920"/>
          </a:xfrm>
          <a:prstGeom prst="roundRect">
            <a:avLst>
              <a:gd fmla="val 1454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4187952" y="2203704"/>
            <a:ext cx="3785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/produtos/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1"/>
          <p:cNvSpPr/>
          <p:nvPr/>
        </p:nvSpPr>
        <p:spPr>
          <a:xfrm>
            <a:off x="5971032" y="2732959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1"/>
          <p:cNvSpPr/>
          <p:nvPr/>
        </p:nvSpPr>
        <p:spPr>
          <a:xfrm>
            <a:off x="4023360" y="2852928"/>
            <a:ext cx="4114800" cy="502920"/>
          </a:xfrm>
          <a:prstGeom prst="roundRect">
            <a:avLst>
              <a:gd fmla="val 14545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4187952" y="2852928"/>
            <a:ext cx="3785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1"/>
          <p:cNvSpPr/>
          <p:nvPr/>
        </p:nvSpPr>
        <p:spPr>
          <a:xfrm>
            <a:off x="5971032" y="3382183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1"/>
          <p:cNvSpPr/>
          <p:nvPr/>
        </p:nvSpPr>
        <p:spPr>
          <a:xfrm>
            <a:off x="4023360" y="3502152"/>
            <a:ext cx="4114800" cy="502920"/>
          </a:xfrm>
          <a:prstGeom prst="roundRect">
            <a:avLst>
              <a:gd fmla="val 14545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1"/>
          <p:cNvSpPr/>
          <p:nvPr/>
        </p:nvSpPr>
        <p:spPr>
          <a:xfrm>
            <a:off x="4187952" y="3502152"/>
            <a:ext cx="3785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1"/>
          <p:cNvSpPr/>
          <p:nvPr/>
        </p:nvSpPr>
        <p:spPr>
          <a:xfrm>
            <a:off x="5971032" y="4031407"/>
            <a:ext cx="219456" cy="9363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1"/>
          <p:cNvSpPr/>
          <p:nvPr/>
        </p:nvSpPr>
        <p:spPr>
          <a:xfrm>
            <a:off x="4023360" y="4151376"/>
            <a:ext cx="4114800" cy="502920"/>
          </a:xfrm>
          <a:prstGeom prst="roundRect">
            <a:avLst>
              <a:gd fmla="val 1454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4187952" y="4151376"/>
            <a:ext cx="378561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Resposta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1"/>
          <p:cNvSpPr/>
          <p:nvPr/>
        </p:nvSpPr>
        <p:spPr>
          <a:xfrm>
            <a:off x="2194560" y="5486400"/>
            <a:ext cx="7799832" cy="594360"/>
          </a:xfrm>
          <a:prstGeom prst="roundRect">
            <a:avLst>
              <a:gd fmla="val 12308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1"/>
          <p:cNvSpPr/>
          <p:nvPr/>
        </p:nvSpPr>
        <p:spPr>
          <a:xfrm>
            <a:off x="2194560" y="5486400"/>
            <a:ext cx="77998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Introduzindo: URLs  e  Views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2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609" name="Google Shape;6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22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Mapeando caminhos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2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2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2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URLS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2"/>
          <p:cNvSpPr/>
          <p:nvPr/>
        </p:nvSpPr>
        <p:spPr>
          <a:xfrm>
            <a:off x="457200" y="1691640"/>
            <a:ext cx="5650992" cy="2194560"/>
          </a:xfrm>
          <a:prstGeom prst="roundRect">
            <a:avLst>
              <a:gd fmla="val 4167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2"/>
          <p:cNvSpPr/>
          <p:nvPr/>
        </p:nvSpPr>
        <p:spPr>
          <a:xfrm>
            <a:off x="694944" y="1874520"/>
            <a:ext cx="5193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urls.py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2"/>
          <p:cNvSpPr/>
          <p:nvPr/>
        </p:nvSpPr>
        <p:spPr>
          <a:xfrm>
            <a:off x="694944" y="2313432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from django.urls import path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2"/>
          <p:cNvSpPr/>
          <p:nvPr/>
        </p:nvSpPr>
        <p:spPr>
          <a:xfrm>
            <a:off x="694944" y="2560320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from . import views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2"/>
          <p:cNvSpPr/>
          <p:nvPr/>
        </p:nvSpPr>
        <p:spPr>
          <a:xfrm>
            <a:off x="694944" y="2942996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urlpatterns = [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2"/>
          <p:cNvSpPr/>
          <p:nvPr/>
        </p:nvSpPr>
        <p:spPr>
          <a:xfrm>
            <a:off x="694944" y="3189884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path("produtos/", views.produtos),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2"/>
          <p:cNvSpPr/>
          <p:nvPr/>
        </p:nvSpPr>
        <p:spPr>
          <a:xfrm>
            <a:off x="694944" y="3436772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2"/>
          <p:cNvSpPr/>
          <p:nvPr/>
        </p:nvSpPr>
        <p:spPr>
          <a:xfrm>
            <a:off x="6720840" y="1920240"/>
            <a:ext cx="4553712" cy="685800"/>
          </a:xfrm>
          <a:prstGeom prst="roundRect">
            <a:avLst>
              <a:gd fmla="val 10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2"/>
          <p:cNvSpPr/>
          <p:nvPr/>
        </p:nvSpPr>
        <p:spPr>
          <a:xfrm>
            <a:off x="6885432" y="1920240"/>
            <a:ext cx="42245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/produtos/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2"/>
          <p:cNvSpPr/>
          <p:nvPr/>
        </p:nvSpPr>
        <p:spPr>
          <a:xfrm>
            <a:off x="8887968" y="2663647"/>
            <a:ext cx="219456" cy="20482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6720840" y="2926080"/>
            <a:ext cx="4553712" cy="685800"/>
          </a:xfrm>
          <a:prstGeom prst="roundRect">
            <a:avLst>
              <a:gd fmla="val 10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2"/>
          <p:cNvSpPr/>
          <p:nvPr/>
        </p:nvSpPr>
        <p:spPr>
          <a:xfrm>
            <a:off x="6885432" y="2926080"/>
            <a:ext cx="42245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views.produtos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2"/>
          <p:cNvSpPr/>
          <p:nvPr/>
        </p:nvSpPr>
        <p:spPr>
          <a:xfrm>
            <a:off x="6720840" y="3794760"/>
            <a:ext cx="4553712" cy="777240"/>
          </a:xfrm>
          <a:prstGeom prst="roundRect">
            <a:avLst>
              <a:gd fmla="val 9412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2"/>
          <p:cNvSpPr/>
          <p:nvPr/>
        </p:nvSpPr>
        <p:spPr>
          <a:xfrm>
            <a:off x="6949440" y="3794760"/>
            <a:ext cx="4114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URL direciona a requisição para uma View.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3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635" name="Google Shape;63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23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Onde a requisição é processada?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3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3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3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VIEWS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3"/>
          <p:cNvSpPr/>
          <p:nvPr/>
        </p:nvSpPr>
        <p:spPr>
          <a:xfrm>
            <a:off x="457200" y="1691640"/>
            <a:ext cx="5650992" cy="1920240"/>
          </a:xfrm>
          <a:prstGeom prst="roundRect">
            <a:avLst>
              <a:gd fmla="val 4762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3"/>
          <p:cNvSpPr/>
          <p:nvPr/>
        </p:nvSpPr>
        <p:spPr>
          <a:xfrm>
            <a:off x="694944" y="1874520"/>
            <a:ext cx="5193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3"/>
          <p:cNvSpPr/>
          <p:nvPr/>
        </p:nvSpPr>
        <p:spPr>
          <a:xfrm>
            <a:off x="694944" y="2313432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from django.http import HttpResponse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3"/>
          <p:cNvSpPr/>
          <p:nvPr/>
        </p:nvSpPr>
        <p:spPr>
          <a:xfrm>
            <a:off x="694944" y="2696108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def produtos(request):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3"/>
          <p:cNvSpPr/>
          <p:nvPr/>
        </p:nvSpPr>
        <p:spPr>
          <a:xfrm>
            <a:off x="694944" y="2942996"/>
            <a:ext cx="51755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HttpResponse("Lista de produtos")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3"/>
          <p:cNvSpPr/>
          <p:nvPr/>
        </p:nvSpPr>
        <p:spPr>
          <a:xfrm>
            <a:off x="6720840" y="1691640"/>
            <a:ext cx="4553712" cy="438912"/>
          </a:xfrm>
          <a:prstGeom prst="roundRect">
            <a:avLst>
              <a:gd fmla="val 16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3"/>
          <p:cNvSpPr/>
          <p:nvPr/>
        </p:nvSpPr>
        <p:spPr>
          <a:xfrm>
            <a:off x="6885432" y="1691640"/>
            <a:ext cx="42245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3"/>
          <p:cNvSpPr/>
          <p:nvPr/>
        </p:nvSpPr>
        <p:spPr>
          <a:xfrm>
            <a:off x="8887968" y="2153595"/>
            <a:ext cx="219456" cy="819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3"/>
          <p:cNvSpPr/>
          <p:nvPr/>
        </p:nvSpPr>
        <p:spPr>
          <a:xfrm>
            <a:off x="6720840" y="2258568"/>
            <a:ext cx="4553712" cy="438912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3"/>
          <p:cNvSpPr/>
          <p:nvPr/>
        </p:nvSpPr>
        <p:spPr>
          <a:xfrm>
            <a:off x="6885432" y="2258568"/>
            <a:ext cx="42245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3"/>
          <p:cNvSpPr/>
          <p:nvPr/>
        </p:nvSpPr>
        <p:spPr>
          <a:xfrm>
            <a:off x="8887968" y="2720523"/>
            <a:ext cx="219456" cy="819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3"/>
          <p:cNvSpPr/>
          <p:nvPr/>
        </p:nvSpPr>
        <p:spPr>
          <a:xfrm>
            <a:off x="6720840" y="2825496"/>
            <a:ext cx="4553712" cy="438912"/>
          </a:xfrm>
          <a:prstGeom prst="roundRect">
            <a:avLst>
              <a:gd fmla="val 16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3"/>
          <p:cNvSpPr/>
          <p:nvPr/>
        </p:nvSpPr>
        <p:spPr>
          <a:xfrm>
            <a:off x="6885432" y="2825496"/>
            <a:ext cx="42245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Processamento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3"/>
          <p:cNvSpPr/>
          <p:nvPr/>
        </p:nvSpPr>
        <p:spPr>
          <a:xfrm>
            <a:off x="8887968" y="3287451"/>
            <a:ext cx="219456" cy="8193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3"/>
          <p:cNvSpPr/>
          <p:nvPr/>
        </p:nvSpPr>
        <p:spPr>
          <a:xfrm>
            <a:off x="6720840" y="3392424"/>
            <a:ext cx="4553712" cy="438912"/>
          </a:xfrm>
          <a:prstGeom prst="roundRect">
            <a:avLst>
              <a:gd fmla="val 16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3"/>
          <p:cNvSpPr/>
          <p:nvPr/>
        </p:nvSpPr>
        <p:spPr>
          <a:xfrm>
            <a:off x="6885432" y="3392424"/>
            <a:ext cx="422452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3"/>
          <p:cNvSpPr/>
          <p:nvPr/>
        </p:nvSpPr>
        <p:spPr>
          <a:xfrm>
            <a:off x="457200" y="3977640"/>
            <a:ext cx="10820095" cy="685800"/>
          </a:xfrm>
          <a:prstGeom prst="roundRect">
            <a:avLst>
              <a:gd fmla="val 10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3"/>
          <p:cNvSpPr/>
          <p:nvPr/>
        </p:nvSpPr>
        <p:spPr>
          <a:xfrm>
            <a:off x="822960" y="3977640"/>
            <a:ext cx="10085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A View recebe uma requisição e produz uma resposta.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4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665" name="Google Shape;6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24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mesma aplicação recebe ações diferentes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4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4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4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MÉTODOS HTTP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4"/>
          <p:cNvSpPr/>
          <p:nvPr/>
        </p:nvSpPr>
        <p:spPr>
          <a:xfrm>
            <a:off x="457200" y="1737360"/>
            <a:ext cx="5120640" cy="1554480"/>
          </a:xfrm>
          <a:prstGeom prst="roundRect">
            <a:avLst>
              <a:gd fmla="val 5882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4"/>
          <p:cNvSpPr/>
          <p:nvPr/>
        </p:nvSpPr>
        <p:spPr>
          <a:xfrm>
            <a:off x="731520" y="19659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4"/>
          <p:cNvSpPr/>
          <p:nvPr/>
        </p:nvSpPr>
        <p:spPr>
          <a:xfrm>
            <a:off x="731520" y="2606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consultar / carregar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4"/>
          <p:cNvSpPr/>
          <p:nvPr/>
        </p:nvSpPr>
        <p:spPr>
          <a:xfrm>
            <a:off x="6156655" y="1737360"/>
            <a:ext cx="5120640" cy="1554480"/>
          </a:xfrm>
          <a:prstGeom prst="roundRect">
            <a:avLst>
              <a:gd fmla="val 5882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4"/>
          <p:cNvSpPr/>
          <p:nvPr/>
        </p:nvSpPr>
        <p:spPr>
          <a:xfrm>
            <a:off x="6430975" y="19659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4"/>
          <p:cNvSpPr/>
          <p:nvPr/>
        </p:nvSpPr>
        <p:spPr>
          <a:xfrm>
            <a:off x="6430975" y="2606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D7F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9D7FE"/>
                </a:solidFill>
                <a:latin typeface="Arial"/>
                <a:ea typeface="Arial"/>
                <a:cs typeface="Arial"/>
                <a:sym typeface="Arial"/>
              </a:rPr>
              <a:t>enviar / cadastrar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4"/>
          <p:cNvSpPr/>
          <p:nvPr/>
        </p:nvSpPr>
        <p:spPr>
          <a:xfrm>
            <a:off x="457200" y="3520440"/>
            <a:ext cx="10820095" cy="1463040"/>
          </a:xfrm>
          <a:prstGeom prst="roundRect">
            <a:avLst>
              <a:gd fmla="val 6250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4"/>
          <p:cNvSpPr/>
          <p:nvPr/>
        </p:nvSpPr>
        <p:spPr>
          <a:xfrm>
            <a:off x="694944" y="3703320"/>
            <a:ext cx="10362895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4"/>
          <p:cNvSpPr/>
          <p:nvPr/>
        </p:nvSpPr>
        <p:spPr>
          <a:xfrm>
            <a:off x="694944" y="4142232"/>
            <a:ext cx="1034460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if request.method == "POST":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4"/>
          <p:cNvSpPr/>
          <p:nvPr/>
        </p:nvSpPr>
        <p:spPr>
          <a:xfrm>
            <a:off x="694944" y="4389120"/>
            <a:ext cx="1034460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4"/>
          <p:cNvSpPr/>
          <p:nvPr/>
        </p:nvSpPr>
        <p:spPr>
          <a:xfrm>
            <a:off x="694944" y="4526280"/>
            <a:ext cx="1600200" cy="292608"/>
          </a:xfrm>
          <a:prstGeom prst="roundRect">
            <a:avLst>
              <a:gd fmla="val 50000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24"/>
          <p:cNvSpPr/>
          <p:nvPr/>
        </p:nvSpPr>
        <p:spPr>
          <a:xfrm>
            <a:off x="694944" y="452628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request.method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5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689" name="Google Shape;6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25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As peças começam a se conectar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5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5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5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INTEGRAÇÃO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5"/>
          <p:cNvSpPr/>
          <p:nvPr/>
        </p:nvSpPr>
        <p:spPr>
          <a:xfrm>
            <a:off x="3566160" y="1691640"/>
            <a:ext cx="5029200" cy="512064"/>
          </a:xfrm>
          <a:prstGeom prst="roundRect">
            <a:avLst>
              <a:gd fmla="val 125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5"/>
          <p:cNvSpPr/>
          <p:nvPr/>
        </p:nvSpPr>
        <p:spPr>
          <a:xfrm>
            <a:off x="3566160" y="1691640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5"/>
          <p:cNvSpPr/>
          <p:nvPr/>
        </p:nvSpPr>
        <p:spPr>
          <a:xfrm>
            <a:off x="5971032" y="2217420"/>
            <a:ext cx="219456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5"/>
          <p:cNvSpPr/>
          <p:nvPr/>
        </p:nvSpPr>
        <p:spPr>
          <a:xfrm>
            <a:off x="3566160" y="2295144"/>
            <a:ext cx="5029200" cy="512064"/>
          </a:xfrm>
          <a:prstGeom prst="roundRect">
            <a:avLst>
              <a:gd fmla="val 125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5"/>
          <p:cNvSpPr/>
          <p:nvPr/>
        </p:nvSpPr>
        <p:spPr>
          <a:xfrm>
            <a:off x="3566160" y="2295144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URL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5"/>
          <p:cNvSpPr/>
          <p:nvPr/>
        </p:nvSpPr>
        <p:spPr>
          <a:xfrm>
            <a:off x="5971032" y="2820924"/>
            <a:ext cx="219456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5"/>
          <p:cNvSpPr/>
          <p:nvPr/>
        </p:nvSpPr>
        <p:spPr>
          <a:xfrm>
            <a:off x="3566160" y="2898648"/>
            <a:ext cx="5029200" cy="512064"/>
          </a:xfrm>
          <a:prstGeom prst="roundRect">
            <a:avLst>
              <a:gd fmla="val 125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5"/>
          <p:cNvSpPr/>
          <p:nvPr/>
        </p:nvSpPr>
        <p:spPr>
          <a:xfrm>
            <a:off x="3566160" y="2898648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5"/>
          <p:cNvSpPr/>
          <p:nvPr/>
        </p:nvSpPr>
        <p:spPr>
          <a:xfrm>
            <a:off x="5971032" y="3424428"/>
            <a:ext cx="219456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5"/>
          <p:cNvSpPr/>
          <p:nvPr/>
        </p:nvSpPr>
        <p:spPr>
          <a:xfrm>
            <a:off x="3566160" y="3502152"/>
            <a:ext cx="5029200" cy="512064"/>
          </a:xfrm>
          <a:prstGeom prst="roundRect">
            <a:avLst>
              <a:gd fmla="val 125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5"/>
          <p:cNvSpPr/>
          <p:nvPr/>
        </p:nvSpPr>
        <p:spPr>
          <a:xfrm>
            <a:off x="3566160" y="3502152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5"/>
          <p:cNvSpPr/>
          <p:nvPr/>
        </p:nvSpPr>
        <p:spPr>
          <a:xfrm>
            <a:off x="5971032" y="4027932"/>
            <a:ext cx="219456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5"/>
          <p:cNvSpPr/>
          <p:nvPr/>
        </p:nvSpPr>
        <p:spPr>
          <a:xfrm>
            <a:off x="3566160" y="4105656"/>
            <a:ext cx="5029200" cy="512064"/>
          </a:xfrm>
          <a:prstGeom prst="roundRect">
            <a:avLst>
              <a:gd fmla="val 12500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5"/>
          <p:cNvSpPr/>
          <p:nvPr/>
        </p:nvSpPr>
        <p:spPr>
          <a:xfrm>
            <a:off x="3566160" y="4105656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5"/>
          <p:cNvSpPr/>
          <p:nvPr/>
        </p:nvSpPr>
        <p:spPr>
          <a:xfrm>
            <a:off x="5971032" y="4631436"/>
            <a:ext cx="219456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5"/>
          <p:cNvSpPr/>
          <p:nvPr/>
        </p:nvSpPr>
        <p:spPr>
          <a:xfrm>
            <a:off x="3566160" y="4709160"/>
            <a:ext cx="5029200" cy="512064"/>
          </a:xfrm>
          <a:prstGeom prst="roundRect">
            <a:avLst>
              <a:gd fmla="val 125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5"/>
          <p:cNvSpPr/>
          <p:nvPr/>
        </p:nvSpPr>
        <p:spPr>
          <a:xfrm>
            <a:off x="3566160" y="4709160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5"/>
          <p:cNvSpPr/>
          <p:nvPr/>
        </p:nvSpPr>
        <p:spPr>
          <a:xfrm>
            <a:off x="5971032" y="5234940"/>
            <a:ext cx="219456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5"/>
          <p:cNvSpPr/>
          <p:nvPr/>
        </p:nvSpPr>
        <p:spPr>
          <a:xfrm>
            <a:off x="3566160" y="5312664"/>
            <a:ext cx="5029200" cy="512064"/>
          </a:xfrm>
          <a:prstGeom prst="roundRect">
            <a:avLst>
              <a:gd fmla="val 125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5"/>
          <p:cNvSpPr/>
          <p:nvPr/>
        </p:nvSpPr>
        <p:spPr>
          <a:xfrm>
            <a:off x="3566160" y="5312664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5"/>
          <p:cNvSpPr/>
          <p:nvPr/>
        </p:nvSpPr>
        <p:spPr>
          <a:xfrm>
            <a:off x="5971032" y="5838444"/>
            <a:ext cx="219456" cy="640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5"/>
          <p:cNvSpPr/>
          <p:nvPr/>
        </p:nvSpPr>
        <p:spPr>
          <a:xfrm>
            <a:off x="3566160" y="5916168"/>
            <a:ext cx="5029200" cy="512064"/>
          </a:xfrm>
          <a:prstGeom prst="roundRect">
            <a:avLst>
              <a:gd fmla="val 125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5"/>
          <p:cNvSpPr/>
          <p:nvPr/>
        </p:nvSpPr>
        <p:spPr>
          <a:xfrm>
            <a:off x="3566160" y="5916168"/>
            <a:ext cx="50292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5"/>
          <p:cNvSpPr/>
          <p:nvPr/>
        </p:nvSpPr>
        <p:spPr>
          <a:xfrm>
            <a:off x="1371600" y="245973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5"/>
          <p:cNvSpPr/>
          <p:nvPr/>
        </p:nvSpPr>
        <p:spPr>
          <a:xfrm>
            <a:off x="8869680" y="45079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volta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6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726" name="Google Shape;7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26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Nem todo dado válido pode ser aceito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6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6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6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REGRAS DE NEGÓCIO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6"/>
          <p:cNvSpPr/>
          <p:nvPr/>
        </p:nvSpPr>
        <p:spPr>
          <a:xfrm>
            <a:off x="472288" y="1691640"/>
            <a:ext cx="2011680" cy="594360"/>
          </a:xfrm>
          <a:prstGeom prst="roundRect">
            <a:avLst>
              <a:gd fmla="val 49231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26"/>
          <p:cNvSpPr/>
          <p:nvPr/>
        </p:nvSpPr>
        <p:spPr>
          <a:xfrm>
            <a:off x="472288" y="16916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Capacidade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6"/>
          <p:cNvSpPr/>
          <p:nvPr/>
        </p:nvSpPr>
        <p:spPr>
          <a:xfrm>
            <a:off x="2666848" y="1691640"/>
            <a:ext cx="2011680" cy="594360"/>
          </a:xfrm>
          <a:prstGeom prst="roundRect">
            <a:avLst>
              <a:gd fmla="val 49231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6"/>
          <p:cNvSpPr/>
          <p:nvPr/>
        </p:nvSpPr>
        <p:spPr>
          <a:xfrm>
            <a:off x="2666848" y="16916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6"/>
          <p:cNvSpPr/>
          <p:nvPr/>
        </p:nvSpPr>
        <p:spPr>
          <a:xfrm>
            <a:off x="4861408" y="1691640"/>
            <a:ext cx="2011680" cy="594360"/>
          </a:xfrm>
          <a:prstGeom prst="roundRect">
            <a:avLst>
              <a:gd fmla="val 49231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6"/>
          <p:cNvSpPr/>
          <p:nvPr/>
        </p:nvSpPr>
        <p:spPr>
          <a:xfrm>
            <a:off x="4861408" y="16916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Horário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6"/>
          <p:cNvSpPr/>
          <p:nvPr/>
        </p:nvSpPr>
        <p:spPr>
          <a:xfrm>
            <a:off x="7055968" y="1691640"/>
            <a:ext cx="2011680" cy="594360"/>
          </a:xfrm>
          <a:prstGeom prst="roundRect">
            <a:avLst>
              <a:gd fmla="val 49231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6"/>
          <p:cNvSpPr/>
          <p:nvPr/>
        </p:nvSpPr>
        <p:spPr>
          <a:xfrm>
            <a:off x="7055968" y="16916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Disponibilidade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6"/>
          <p:cNvSpPr/>
          <p:nvPr/>
        </p:nvSpPr>
        <p:spPr>
          <a:xfrm>
            <a:off x="9250528" y="1691640"/>
            <a:ext cx="2011680" cy="594360"/>
          </a:xfrm>
          <a:prstGeom prst="roundRect">
            <a:avLst>
              <a:gd fmla="val 49231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26"/>
          <p:cNvSpPr/>
          <p:nvPr/>
        </p:nvSpPr>
        <p:spPr>
          <a:xfrm>
            <a:off x="9250528" y="16916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Sobreposição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6"/>
          <p:cNvSpPr/>
          <p:nvPr/>
        </p:nvSpPr>
        <p:spPr>
          <a:xfrm>
            <a:off x="4023360" y="2606040"/>
            <a:ext cx="4114800" cy="548640"/>
          </a:xfrm>
          <a:prstGeom prst="roundRect">
            <a:avLst>
              <a:gd fmla="val 11667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6"/>
          <p:cNvSpPr/>
          <p:nvPr/>
        </p:nvSpPr>
        <p:spPr>
          <a:xfrm>
            <a:off x="4023360" y="260604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Dados recebidos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6"/>
          <p:cNvSpPr/>
          <p:nvPr/>
        </p:nvSpPr>
        <p:spPr>
          <a:xfrm>
            <a:off x="5757520" y="3246120"/>
            <a:ext cx="219456" cy="2926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6"/>
          <p:cNvSpPr/>
          <p:nvPr/>
        </p:nvSpPr>
        <p:spPr>
          <a:xfrm>
            <a:off x="4023360" y="3611880"/>
            <a:ext cx="4114800" cy="548640"/>
          </a:xfrm>
          <a:prstGeom prst="roundRect">
            <a:avLst>
              <a:gd fmla="val 11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6"/>
          <p:cNvSpPr/>
          <p:nvPr/>
        </p:nvSpPr>
        <p:spPr>
          <a:xfrm>
            <a:off x="4023360" y="361188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Validação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6"/>
          <p:cNvSpPr/>
          <p:nvPr/>
        </p:nvSpPr>
        <p:spPr>
          <a:xfrm>
            <a:off x="4942332" y="4251960"/>
            <a:ext cx="219456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2B7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6"/>
          <p:cNvSpPr/>
          <p:nvPr/>
        </p:nvSpPr>
        <p:spPr>
          <a:xfrm>
            <a:off x="6999732" y="4251960"/>
            <a:ext cx="219456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6"/>
          <p:cNvSpPr/>
          <p:nvPr/>
        </p:nvSpPr>
        <p:spPr>
          <a:xfrm>
            <a:off x="2743200" y="4617720"/>
            <a:ext cx="2560320" cy="502920"/>
          </a:xfrm>
          <a:prstGeom prst="roundRect">
            <a:avLst>
              <a:gd fmla="val 12727" name="adj"/>
            </a:avLst>
          </a:prstGeom>
          <a:solidFill>
            <a:srgbClr val="E7F8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6"/>
          <p:cNvSpPr/>
          <p:nvPr/>
        </p:nvSpPr>
        <p:spPr>
          <a:xfrm>
            <a:off x="2743200" y="46177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B76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B76A"/>
                </a:solidFill>
                <a:latin typeface="Arial"/>
                <a:ea typeface="Arial"/>
                <a:cs typeface="Arial"/>
                <a:sym typeface="Arial"/>
              </a:rPr>
              <a:t>ACEITAR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6"/>
          <p:cNvSpPr/>
          <p:nvPr/>
        </p:nvSpPr>
        <p:spPr>
          <a:xfrm>
            <a:off x="6400800" y="4617720"/>
            <a:ext cx="2560320" cy="502920"/>
          </a:xfrm>
          <a:prstGeom prst="roundRect">
            <a:avLst>
              <a:gd fmla="val 12727" name="adj"/>
            </a:avLst>
          </a:prstGeom>
          <a:solidFill>
            <a:srgbClr val="FCE7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6"/>
          <p:cNvSpPr/>
          <p:nvPr/>
        </p:nvSpPr>
        <p:spPr>
          <a:xfrm>
            <a:off x="6400800" y="46177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REJEITAR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6"/>
          <p:cNvSpPr/>
          <p:nvPr/>
        </p:nvSpPr>
        <p:spPr>
          <a:xfrm>
            <a:off x="457200" y="5623560"/>
            <a:ext cx="11277295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6"/>
          <p:cNvSpPr/>
          <p:nvPr/>
        </p:nvSpPr>
        <p:spPr>
          <a:xfrm>
            <a:off x="640080" y="562356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ONDE ESSAS REGRAS DEVEM SER GARANTIDAS?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7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761" name="Google Shape;76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27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regra precisa existir no back-end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7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7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7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VALIDAÇÃO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7"/>
          <p:cNvSpPr/>
          <p:nvPr/>
        </p:nvSpPr>
        <p:spPr>
          <a:xfrm>
            <a:off x="457200" y="1691640"/>
            <a:ext cx="3429000" cy="2286000"/>
          </a:xfrm>
          <a:prstGeom prst="roundRect">
            <a:avLst>
              <a:gd fmla="val 4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7"/>
          <p:cNvSpPr/>
          <p:nvPr/>
        </p:nvSpPr>
        <p:spPr>
          <a:xfrm>
            <a:off x="685800" y="192024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Quantidade de passageiros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7"/>
          <p:cNvSpPr/>
          <p:nvPr/>
        </p:nvSpPr>
        <p:spPr>
          <a:xfrm>
            <a:off x="2061972" y="256032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7"/>
          <p:cNvSpPr/>
          <p:nvPr/>
        </p:nvSpPr>
        <p:spPr>
          <a:xfrm>
            <a:off x="685800" y="292608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Capacidade disponível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7"/>
          <p:cNvSpPr/>
          <p:nvPr/>
        </p:nvSpPr>
        <p:spPr>
          <a:xfrm>
            <a:off x="685800" y="3429000"/>
            <a:ext cx="2971800" cy="411480"/>
          </a:xfrm>
          <a:prstGeom prst="roundRect">
            <a:avLst>
              <a:gd fmla="val 48889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7"/>
          <p:cNvSpPr/>
          <p:nvPr/>
        </p:nvSpPr>
        <p:spPr>
          <a:xfrm>
            <a:off x="685800" y="34290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7"/>
          <p:cNvSpPr/>
          <p:nvPr/>
        </p:nvSpPr>
        <p:spPr>
          <a:xfrm>
            <a:off x="4197096" y="1691640"/>
            <a:ext cx="3429000" cy="2286000"/>
          </a:xfrm>
          <a:prstGeom prst="roundRect">
            <a:avLst>
              <a:gd fmla="val 4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7"/>
          <p:cNvSpPr/>
          <p:nvPr/>
        </p:nvSpPr>
        <p:spPr>
          <a:xfrm>
            <a:off x="4425696" y="192024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7"/>
          <p:cNvSpPr/>
          <p:nvPr/>
        </p:nvSpPr>
        <p:spPr>
          <a:xfrm>
            <a:off x="5801868" y="256032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7"/>
          <p:cNvSpPr/>
          <p:nvPr/>
        </p:nvSpPr>
        <p:spPr>
          <a:xfrm>
            <a:off x="4425696" y="292608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Não pode estar no passado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7"/>
          <p:cNvSpPr/>
          <p:nvPr/>
        </p:nvSpPr>
        <p:spPr>
          <a:xfrm>
            <a:off x="4425696" y="3429000"/>
            <a:ext cx="2971800" cy="411480"/>
          </a:xfrm>
          <a:prstGeom prst="roundRect">
            <a:avLst>
              <a:gd fmla="val 48889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7"/>
          <p:cNvSpPr/>
          <p:nvPr/>
        </p:nvSpPr>
        <p:spPr>
          <a:xfrm>
            <a:off x="4425696" y="34290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7"/>
          <p:cNvSpPr/>
          <p:nvPr/>
        </p:nvSpPr>
        <p:spPr>
          <a:xfrm>
            <a:off x="7936992" y="1691640"/>
            <a:ext cx="3429000" cy="2286000"/>
          </a:xfrm>
          <a:prstGeom prst="roundRect">
            <a:avLst>
              <a:gd fmla="val 4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7"/>
          <p:cNvSpPr/>
          <p:nvPr/>
        </p:nvSpPr>
        <p:spPr>
          <a:xfrm>
            <a:off x="8165592" y="192024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Saída + retorno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7"/>
          <p:cNvSpPr/>
          <p:nvPr/>
        </p:nvSpPr>
        <p:spPr>
          <a:xfrm>
            <a:off x="9541764" y="256032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7"/>
          <p:cNvSpPr/>
          <p:nvPr/>
        </p:nvSpPr>
        <p:spPr>
          <a:xfrm>
            <a:off x="8165592" y="2926080"/>
            <a:ext cx="2971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Retorno posterior à saída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7"/>
          <p:cNvSpPr/>
          <p:nvPr/>
        </p:nvSpPr>
        <p:spPr>
          <a:xfrm>
            <a:off x="8165592" y="3429000"/>
            <a:ext cx="2971800" cy="411480"/>
          </a:xfrm>
          <a:prstGeom prst="roundRect">
            <a:avLst>
              <a:gd fmla="val 48889" name="adj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7"/>
          <p:cNvSpPr/>
          <p:nvPr/>
        </p:nvSpPr>
        <p:spPr>
          <a:xfrm>
            <a:off x="8165592" y="342900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7"/>
          <p:cNvSpPr/>
          <p:nvPr/>
        </p:nvSpPr>
        <p:spPr>
          <a:xfrm>
            <a:off x="457200" y="4297680"/>
            <a:ext cx="10820095" cy="777240"/>
          </a:xfrm>
          <a:prstGeom prst="roundRect">
            <a:avLst>
              <a:gd fmla="val 11765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7"/>
          <p:cNvSpPr/>
          <p:nvPr/>
        </p:nvSpPr>
        <p:spPr>
          <a:xfrm>
            <a:off x="822960" y="4297680"/>
            <a:ext cx="100858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D7F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9D7FE"/>
                </a:solidFill>
                <a:latin typeface="Arial"/>
                <a:ea typeface="Arial"/>
                <a:cs typeface="Arial"/>
                <a:sym typeface="Arial"/>
              </a:rPr>
              <a:t>A interface pode ajudar.  </a:t>
            </a: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servidor deve garantir.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8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793" name="Google Shape;79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28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Como identificar sobreposição?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8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8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8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REGRA DE NEGÓCIO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8"/>
          <p:cNvSpPr/>
          <p:nvPr/>
        </p:nvSpPr>
        <p:spPr>
          <a:xfrm>
            <a:off x="3017520" y="16916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Reserva existente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8"/>
          <p:cNvSpPr/>
          <p:nvPr/>
        </p:nvSpPr>
        <p:spPr>
          <a:xfrm>
            <a:off x="3017520" y="2011680"/>
            <a:ext cx="731520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8"/>
          <p:cNvSpPr/>
          <p:nvPr/>
        </p:nvSpPr>
        <p:spPr>
          <a:xfrm>
            <a:off x="3749040" y="2011680"/>
            <a:ext cx="2194560" cy="384048"/>
          </a:xfrm>
          <a:prstGeom prst="roundRect">
            <a:avLst>
              <a:gd fmla="val 14286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8"/>
          <p:cNvSpPr/>
          <p:nvPr/>
        </p:nvSpPr>
        <p:spPr>
          <a:xfrm>
            <a:off x="3749040" y="201168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08:00 - 10:00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8"/>
          <p:cNvSpPr/>
          <p:nvPr/>
        </p:nvSpPr>
        <p:spPr>
          <a:xfrm>
            <a:off x="3017520" y="25603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Nova solicitação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8"/>
          <p:cNvSpPr/>
          <p:nvPr/>
        </p:nvSpPr>
        <p:spPr>
          <a:xfrm>
            <a:off x="3017520" y="2880360"/>
            <a:ext cx="731520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8"/>
          <p:cNvSpPr/>
          <p:nvPr/>
        </p:nvSpPr>
        <p:spPr>
          <a:xfrm>
            <a:off x="5212080" y="2880360"/>
            <a:ext cx="2560320" cy="384048"/>
          </a:xfrm>
          <a:prstGeom prst="roundRect">
            <a:avLst>
              <a:gd fmla="val 14286" name="adj"/>
            </a:avLst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8"/>
          <p:cNvSpPr/>
          <p:nvPr/>
        </p:nvSpPr>
        <p:spPr>
          <a:xfrm>
            <a:off x="5212080" y="288036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09:00 - 11:00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8"/>
          <p:cNvSpPr/>
          <p:nvPr/>
        </p:nvSpPr>
        <p:spPr>
          <a:xfrm>
            <a:off x="5669280" y="3429000"/>
            <a:ext cx="2011680" cy="384048"/>
          </a:xfrm>
          <a:prstGeom prst="roundRect">
            <a:avLst>
              <a:gd fmla="val 50000" name="adj"/>
            </a:avLst>
          </a:prstGeom>
          <a:solidFill>
            <a:srgbClr val="FCE7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8"/>
          <p:cNvSpPr/>
          <p:nvPr/>
        </p:nvSpPr>
        <p:spPr>
          <a:xfrm>
            <a:off x="5669280" y="342900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SOBREPOSIÇÃO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8"/>
          <p:cNvSpPr/>
          <p:nvPr/>
        </p:nvSpPr>
        <p:spPr>
          <a:xfrm>
            <a:off x="3017520" y="4114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Reserva existente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8"/>
          <p:cNvSpPr/>
          <p:nvPr/>
        </p:nvSpPr>
        <p:spPr>
          <a:xfrm>
            <a:off x="3017520" y="4434840"/>
            <a:ext cx="731520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8"/>
          <p:cNvSpPr/>
          <p:nvPr/>
        </p:nvSpPr>
        <p:spPr>
          <a:xfrm>
            <a:off x="3749040" y="4434840"/>
            <a:ext cx="2194560" cy="384048"/>
          </a:xfrm>
          <a:prstGeom prst="roundRect">
            <a:avLst>
              <a:gd fmla="val 14286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28"/>
          <p:cNvSpPr/>
          <p:nvPr/>
        </p:nvSpPr>
        <p:spPr>
          <a:xfrm>
            <a:off x="3749040" y="443484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08:00 - 10:00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8"/>
          <p:cNvSpPr/>
          <p:nvPr/>
        </p:nvSpPr>
        <p:spPr>
          <a:xfrm>
            <a:off x="3017520" y="4983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Nova solicitação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8"/>
          <p:cNvSpPr/>
          <p:nvPr/>
        </p:nvSpPr>
        <p:spPr>
          <a:xfrm>
            <a:off x="3017520" y="5303520"/>
            <a:ext cx="731520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28"/>
          <p:cNvSpPr/>
          <p:nvPr/>
        </p:nvSpPr>
        <p:spPr>
          <a:xfrm>
            <a:off x="6309360" y="5303520"/>
            <a:ext cx="2194560" cy="384048"/>
          </a:xfrm>
          <a:prstGeom prst="roundRect">
            <a:avLst>
              <a:gd fmla="val 14286" name="adj"/>
            </a:avLst>
          </a:prstGeom>
          <a:solidFill>
            <a:srgbClr val="12B7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28"/>
          <p:cNvSpPr/>
          <p:nvPr/>
        </p:nvSpPr>
        <p:spPr>
          <a:xfrm>
            <a:off x="6309360" y="530352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10:30 - 12:00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8"/>
          <p:cNvSpPr/>
          <p:nvPr/>
        </p:nvSpPr>
        <p:spPr>
          <a:xfrm>
            <a:off x="5303520" y="5852160"/>
            <a:ext cx="2743200" cy="384048"/>
          </a:xfrm>
          <a:prstGeom prst="roundRect">
            <a:avLst>
              <a:gd fmla="val 50000" name="adj"/>
            </a:avLst>
          </a:prstGeom>
          <a:solidFill>
            <a:srgbClr val="E7F8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28"/>
          <p:cNvSpPr/>
          <p:nvPr/>
        </p:nvSpPr>
        <p:spPr>
          <a:xfrm>
            <a:off x="5303520" y="585216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B76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2B76A"/>
                </a:solidFill>
                <a:latin typeface="Arial"/>
                <a:ea typeface="Arial"/>
                <a:cs typeface="Arial"/>
                <a:sym typeface="Arial"/>
              </a:rPr>
              <a:t>SEM SOBREPOSIÇÃO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2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29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825" name="Google Shape;82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29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Como o usuário vê os dados?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9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9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9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TEMPLATES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9"/>
          <p:cNvSpPr/>
          <p:nvPr/>
        </p:nvSpPr>
        <p:spPr>
          <a:xfrm>
            <a:off x="457200" y="1691640"/>
            <a:ext cx="4023360" cy="457200"/>
          </a:xfrm>
          <a:prstGeom prst="roundRect">
            <a:avLst>
              <a:gd fmla="val 16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29"/>
          <p:cNvSpPr/>
          <p:nvPr/>
        </p:nvSpPr>
        <p:spPr>
          <a:xfrm>
            <a:off x="621792" y="1691640"/>
            <a:ext cx="3694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9"/>
          <p:cNvSpPr/>
          <p:nvPr/>
        </p:nvSpPr>
        <p:spPr>
          <a:xfrm>
            <a:off x="2359152" y="2173529"/>
            <a:ext cx="219456" cy="8778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29"/>
          <p:cNvSpPr/>
          <p:nvPr/>
        </p:nvSpPr>
        <p:spPr>
          <a:xfrm>
            <a:off x="457200" y="2286000"/>
            <a:ext cx="4023360" cy="457200"/>
          </a:xfrm>
          <a:prstGeom prst="roundRect">
            <a:avLst>
              <a:gd fmla="val 16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29"/>
          <p:cNvSpPr/>
          <p:nvPr/>
        </p:nvSpPr>
        <p:spPr>
          <a:xfrm>
            <a:off x="621792" y="2286000"/>
            <a:ext cx="3694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9"/>
          <p:cNvSpPr/>
          <p:nvPr/>
        </p:nvSpPr>
        <p:spPr>
          <a:xfrm>
            <a:off x="2359152" y="2767889"/>
            <a:ext cx="219456" cy="8778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29"/>
          <p:cNvSpPr/>
          <p:nvPr/>
        </p:nvSpPr>
        <p:spPr>
          <a:xfrm>
            <a:off x="457200" y="2880360"/>
            <a:ext cx="4023360" cy="457200"/>
          </a:xfrm>
          <a:prstGeom prst="roundRect">
            <a:avLst>
              <a:gd fmla="val 16000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29"/>
          <p:cNvSpPr/>
          <p:nvPr/>
        </p:nvSpPr>
        <p:spPr>
          <a:xfrm>
            <a:off x="621792" y="2880360"/>
            <a:ext cx="3694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9"/>
          <p:cNvSpPr/>
          <p:nvPr/>
        </p:nvSpPr>
        <p:spPr>
          <a:xfrm>
            <a:off x="2359152" y="3362249"/>
            <a:ext cx="219456" cy="8778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29"/>
          <p:cNvSpPr/>
          <p:nvPr/>
        </p:nvSpPr>
        <p:spPr>
          <a:xfrm>
            <a:off x="457200" y="3474720"/>
            <a:ext cx="4023360" cy="457200"/>
          </a:xfrm>
          <a:prstGeom prst="roundRect">
            <a:avLst>
              <a:gd fmla="val 16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29"/>
          <p:cNvSpPr/>
          <p:nvPr/>
        </p:nvSpPr>
        <p:spPr>
          <a:xfrm>
            <a:off x="621792" y="3474720"/>
            <a:ext cx="3694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9"/>
          <p:cNvSpPr/>
          <p:nvPr/>
        </p:nvSpPr>
        <p:spPr>
          <a:xfrm>
            <a:off x="2359152" y="3956609"/>
            <a:ext cx="219456" cy="8778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9"/>
          <p:cNvSpPr/>
          <p:nvPr/>
        </p:nvSpPr>
        <p:spPr>
          <a:xfrm>
            <a:off x="457200" y="4069080"/>
            <a:ext cx="4023360" cy="457200"/>
          </a:xfrm>
          <a:prstGeom prst="roundRect">
            <a:avLst>
              <a:gd fmla="val 16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29"/>
          <p:cNvSpPr/>
          <p:nvPr/>
        </p:nvSpPr>
        <p:spPr>
          <a:xfrm>
            <a:off x="621792" y="4069080"/>
            <a:ext cx="3694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9"/>
          <p:cNvSpPr/>
          <p:nvPr/>
        </p:nvSpPr>
        <p:spPr>
          <a:xfrm>
            <a:off x="4937760" y="1691640"/>
            <a:ext cx="6336792" cy="2286000"/>
          </a:xfrm>
          <a:prstGeom prst="roundRect">
            <a:avLst>
              <a:gd fmla="val 4000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29"/>
          <p:cNvSpPr/>
          <p:nvPr/>
        </p:nvSpPr>
        <p:spPr>
          <a:xfrm>
            <a:off x="5175504" y="1874520"/>
            <a:ext cx="5879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views.py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9"/>
          <p:cNvSpPr/>
          <p:nvPr/>
        </p:nvSpPr>
        <p:spPr>
          <a:xfrm>
            <a:off x="5175504" y="2313432"/>
            <a:ext cx="58613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return render(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9"/>
          <p:cNvSpPr/>
          <p:nvPr/>
        </p:nvSpPr>
        <p:spPr>
          <a:xfrm>
            <a:off x="5175504" y="2560320"/>
            <a:ext cx="58613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request,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9"/>
          <p:cNvSpPr/>
          <p:nvPr/>
        </p:nvSpPr>
        <p:spPr>
          <a:xfrm>
            <a:off x="5175504" y="2807208"/>
            <a:ext cx="58613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"produtos/lista.html",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9"/>
          <p:cNvSpPr/>
          <p:nvPr/>
        </p:nvSpPr>
        <p:spPr>
          <a:xfrm>
            <a:off x="5175504" y="3054096"/>
            <a:ext cx="58613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    {"produtos": produtos}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9"/>
          <p:cNvSpPr/>
          <p:nvPr/>
        </p:nvSpPr>
        <p:spPr>
          <a:xfrm>
            <a:off x="5175504" y="3300984"/>
            <a:ext cx="58613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7E3F4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D7E3F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9"/>
          <p:cNvSpPr/>
          <p:nvPr/>
        </p:nvSpPr>
        <p:spPr>
          <a:xfrm>
            <a:off x="4937760" y="4206240"/>
            <a:ext cx="6336792" cy="777240"/>
          </a:xfrm>
          <a:prstGeom prst="roundRect">
            <a:avLst>
              <a:gd fmla="val 9412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9"/>
          <p:cNvSpPr/>
          <p:nvPr/>
        </p:nvSpPr>
        <p:spPr>
          <a:xfrm>
            <a:off x="5212080" y="4206240"/>
            <a:ext cx="57881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O template permite gerar HTML utilizando dados enviados pela View.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0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860" name="Google Shape;86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30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camada de apresentação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0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0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0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TEMPLATES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0"/>
          <p:cNvSpPr/>
          <p:nvPr/>
        </p:nvSpPr>
        <p:spPr>
          <a:xfrm>
            <a:off x="1340968" y="1737360"/>
            <a:ext cx="2834640" cy="1371600"/>
          </a:xfrm>
          <a:prstGeom prst="roundRect">
            <a:avLst>
              <a:gd fmla="val 6667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30"/>
          <p:cNvSpPr/>
          <p:nvPr/>
        </p:nvSpPr>
        <p:spPr>
          <a:xfrm>
            <a:off x="1340968" y="201168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HTML5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0"/>
          <p:cNvSpPr/>
          <p:nvPr/>
        </p:nvSpPr>
        <p:spPr>
          <a:xfrm>
            <a:off x="1340968" y="25146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estrutura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0"/>
          <p:cNvSpPr/>
          <p:nvPr/>
        </p:nvSpPr>
        <p:spPr>
          <a:xfrm>
            <a:off x="2648560" y="3154680"/>
            <a:ext cx="219456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30"/>
          <p:cNvSpPr/>
          <p:nvPr/>
        </p:nvSpPr>
        <p:spPr>
          <a:xfrm>
            <a:off x="4449928" y="1737360"/>
            <a:ext cx="2834640" cy="1371600"/>
          </a:xfrm>
          <a:prstGeom prst="roundRect">
            <a:avLst>
              <a:gd fmla="val 6667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30"/>
          <p:cNvSpPr/>
          <p:nvPr/>
        </p:nvSpPr>
        <p:spPr>
          <a:xfrm>
            <a:off x="4449928" y="201168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CSS3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0"/>
          <p:cNvSpPr/>
          <p:nvPr/>
        </p:nvSpPr>
        <p:spPr>
          <a:xfrm>
            <a:off x="4449928" y="25146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apresentação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0"/>
          <p:cNvSpPr/>
          <p:nvPr/>
        </p:nvSpPr>
        <p:spPr>
          <a:xfrm>
            <a:off x="5757520" y="3154680"/>
            <a:ext cx="219456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30"/>
          <p:cNvSpPr/>
          <p:nvPr/>
        </p:nvSpPr>
        <p:spPr>
          <a:xfrm>
            <a:off x="7558888" y="1737360"/>
            <a:ext cx="2834640" cy="1371600"/>
          </a:xfrm>
          <a:prstGeom prst="roundRect">
            <a:avLst>
              <a:gd fmla="val 6667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30"/>
          <p:cNvSpPr/>
          <p:nvPr/>
        </p:nvSpPr>
        <p:spPr>
          <a:xfrm>
            <a:off x="7558888" y="201168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0"/>
          <p:cNvSpPr/>
          <p:nvPr/>
        </p:nvSpPr>
        <p:spPr>
          <a:xfrm>
            <a:off x="7558888" y="251460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interação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0"/>
          <p:cNvSpPr/>
          <p:nvPr/>
        </p:nvSpPr>
        <p:spPr>
          <a:xfrm>
            <a:off x="8866480" y="3154680"/>
            <a:ext cx="219456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30"/>
          <p:cNvSpPr/>
          <p:nvPr/>
        </p:nvSpPr>
        <p:spPr>
          <a:xfrm>
            <a:off x="3947008" y="3611880"/>
            <a:ext cx="3840480" cy="822960"/>
          </a:xfrm>
          <a:prstGeom prst="roundRect">
            <a:avLst>
              <a:gd fmla="val 50000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30"/>
          <p:cNvSpPr/>
          <p:nvPr/>
        </p:nvSpPr>
        <p:spPr>
          <a:xfrm>
            <a:off x="3947008" y="361188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TEMPLATE DJANGO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0"/>
          <p:cNvSpPr/>
          <p:nvPr/>
        </p:nvSpPr>
        <p:spPr>
          <a:xfrm>
            <a:off x="457200" y="4754880"/>
            <a:ext cx="10820095" cy="685800"/>
          </a:xfrm>
          <a:prstGeom prst="roundRect">
            <a:avLst>
              <a:gd fmla="val 10667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30"/>
          <p:cNvSpPr/>
          <p:nvPr/>
        </p:nvSpPr>
        <p:spPr>
          <a:xfrm>
            <a:off x="822960" y="4754880"/>
            <a:ext cx="10085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O servidor pode renderizar uma interface Web utilizando templates.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3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3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888" name="Google Shape;88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31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Como as peças se relacionam?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1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1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1"/>
          <p:cNvSpPr/>
          <p:nvPr/>
        </p:nvSpPr>
        <p:spPr>
          <a:xfrm>
            <a:off x="457200" y="3108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SÍNTESE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1"/>
          <p:cNvSpPr/>
          <p:nvPr/>
        </p:nvSpPr>
        <p:spPr>
          <a:xfrm>
            <a:off x="457200" y="1600200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31"/>
          <p:cNvSpPr/>
          <p:nvPr/>
        </p:nvSpPr>
        <p:spPr>
          <a:xfrm>
            <a:off x="457200" y="1600200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Usuário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1"/>
          <p:cNvSpPr/>
          <p:nvPr/>
        </p:nvSpPr>
        <p:spPr>
          <a:xfrm>
            <a:off x="2953512" y="1993392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31"/>
          <p:cNvSpPr/>
          <p:nvPr/>
        </p:nvSpPr>
        <p:spPr>
          <a:xfrm>
            <a:off x="457200" y="2075688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31"/>
          <p:cNvSpPr/>
          <p:nvPr/>
        </p:nvSpPr>
        <p:spPr>
          <a:xfrm>
            <a:off x="457200" y="2075688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1"/>
          <p:cNvSpPr/>
          <p:nvPr/>
        </p:nvSpPr>
        <p:spPr>
          <a:xfrm>
            <a:off x="2953512" y="2468880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31"/>
          <p:cNvSpPr/>
          <p:nvPr/>
        </p:nvSpPr>
        <p:spPr>
          <a:xfrm>
            <a:off x="457200" y="2551176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31"/>
          <p:cNvSpPr/>
          <p:nvPr/>
        </p:nvSpPr>
        <p:spPr>
          <a:xfrm>
            <a:off x="457200" y="2551176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URL / Rota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1"/>
          <p:cNvSpPr/>
          <p:nvPr/>
        </p:nvSpPr>
        <p:spPr>
          <a:xfrm>
            <a:off x="2953512" y="2944368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31"/>
          <p:cNvSpPr/>
          <p:nvPr/>
        </p:nvSpPr>
        <p:spPr>
          <a:xfrm>
            <a:off x="457200" y="3026664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1"/>
          <p:cNvSpPr/>
          <p:nvPr/>
        </p:nvSpPr>
        <p:spPr>
          <a:xfrm>
            <a:off x="457200" y="302666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1"/>
          <p:cNvSpPr/>
          <p:nvPr/>
        </p:nvSpPr>
        <p:spPr>
          <a:xfrm>
            <a:off x="2953512" y="3419856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31"/>
          <p:cNvSpPr/>
          <p:nvPr/>
        </p:nvSpPr>
        <p:spPr>
          <a:xfrm>
            <a:off x="457200" y="3502152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1"/>
          <p:cNvSpPr/>
          <p:nvPr/>
        </p:nvSpPr>
        <p:spPr>
          <a:xfrm>
            <a:off x="457200" y="3502152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Regras de negócio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1"/>
          <p:cNvSpPr/>
          <p:nvPr/>
        </p:nvSpPr>
        <p:spPr>
          <a:xfrm>
            <a:off x="2953512" y="3895344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31"/>
          <p:cNvSpPr/>
          <p:nvPr/>
        </p:nvSpPr>
        <p:spPr>
          <a:xfrm>
            <a:off x="457200" y="3977640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31"/>
          <p:cNvSpPr/>
          <p:nvPr/>
        </p:nvSpPr>
        <p:spPr>
          <a:xfrm>
            <a:off x="457200" y="3977640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Model / ORM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1"/>
          <p:cNvSpPr/>
          <p:nvPr/>
        </p:nvSpPr>
        <p:spPr>
          <a:xfrm>
            <a:off x="6126480" y="1600200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31"/>
          <p:cNvSpPr/>
          <p:nvPr/>
        </p:nvSpPr>
        <p:spPr>
          <a:xfrm>
            <a:off x="6126480" y="1600200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Banco de Dados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1"/>
          <p:cNvSpPr/>
          <p:nvPr/>
        </p:nvSpPr>
        <p:spPr>
          <a:xfrm>
            <a:off x="8622792" y="1993392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31"/>
          <p:cNvSpPr/>
          <p:nvPr/>
        </p:nvSpPr>
        <p:spPr>
          <a:xfrm>
            <a:off x="6126480" y="2075688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31"/>
          <p:cNvSpPr/>
          <p:nvPr/>
        </p:nvSpPr>
        <p:spPr>
          <a:xfrm>
            <a:off x="6126480" y="2075688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1"/>
          <p:cNvSpPr/>
          <p:nvPr/>
        </p:nvSpPr>
        <p:spPr>
          <a:xfrm>
            <a:off x="8622792" y="2468880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31"/>
          <p:cNvSpPr/>
          <p:nvPr/>
        </p:nvSpPr>
        <p:spPr>
          <a:xfrm>
            <a:off x="6126480" y="2551176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31"/>
          <p:cNvSpPr/>
          <p:nvPr/>
        </p:nvSpPr>
        <p:spPr>
          <a:xfrm>
            <a:off x="6126480" y="2551176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1"/>
          <p:cNvSpPr/>
          <p:nvPr/>
        </p:nvSpPr>
        <p:spPr>
          <a:xfrm>
            <a:off x="8622792" y="2944368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31"/>
          <p:cNvSpPr/>
          <p:nvPr/>
        </p:nvSpPr>
        <p:spPr>
          <a:xfrm>
            <a:off x="6126480" y="3026664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31"/>
          <p:cNvSpPr/>
          <p:nvPr/>
        </p:nvSpPr>
        <p:spPr>
          <a:xfrm>
            <a:off x="6126480" y="3026664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HTML + CSS + JavaScript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1"/>
          <p:cNvSpPr/>
          <p:nvPr/>
        </p:nvSpPr>
        <p:spPr>
          <a:xfrm>
            <a:off x="8622792" y="3419856"/>
            <a:ext cx="219456" cy="685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31"/>
          <p:cNvSpPr/>
          <p:nvPr/>
        </p:nvSpPr>
        <p:spPr>
          <a:xfrm>
            <a:off x="6126480" y="3502152"/>
            <a:ext cx="5212080" cy="384048"/>
          </a:xfrm>
          <a:prstGeom prst="roundRect">
            <a:avLst>
              <a:gd fmla="val 1428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31"/>
          <p:cNvSpPr/>
          <p:nvPr/>
        </p:nvSpPr>
        <p:spPr>
          <a:xfrm>
            <a:off x="6126480" y="3502152"/>
            <a:ext cx="5212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Usuário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1"/>
          <p:cNvSpPr/>
          <p:nvPr/>
        </p:nvSpPr>
        <p:spPr>
          <a:xfrm>
            <a:off x="5760720" y="2103120"/>
            <a:ext cx="365760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3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2/assets/undb_logo.png" id="931" name="Google Shape;93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"/>
            <a:ext cx="1371600" cy="419488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32"/>
          <p:cNvSpPr/>
          <p:nvPr/>
        </p:nvSpPr>
        <p:spPr>
          <a:xfrm>
            <a:off x="457200" y="89611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DE VOLTA AO PBL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2"/>
          <p:cNvSpPr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Agora a teoria precisa virar solução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2"/>
          <p:cNvSpPr/>
          <p:nvPr/>
        </p:nvSpPr>
        <p:spPr>
          <a:xfrm>
            <a:off x="457200" y="1737360"/>
            <a:ext cx="1920240" cy="384048"/>
          </a:xfrm>
          <a:prstGeom prst="roundRect">
            <a:avLst>
              <a:gd fmla="val 50000" name="adj"/>
            </a:avLst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32"/>
          <p:cNvSpPr/>
          <p:nvPr/>
        </p:nvSpPr>
        <p:spPr>
          <a:xfrm>
            <a:off x="457200" y="173736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D7F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9D7FE"/>
                </a:solidFill>
                <a:latin typeface="Arial"/>
                <a:ea typeface="Arial"/>
                <a:cs typeface="Arial"/>
                <a:sym typeface="Arial"/>
              </a:rPr>
              <a:t>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2"/>
          <p:cNvSpPr/>
          <p:nvPr/>
        </p:nvSpPr>
        <p:spPr>
          <a:xfrm>
            <a:off x="2560320" y="1737360"/>
            <a:ext cx="2029968" cy="384048"/>
          </a:xfrm>
          <a:prstGeom prst="roundRect">
            <a:avLst>
              <a:gd fmla="val 50000" name="adj"/>
            </a:avLst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32"/>
          <p:cNvSpPr/>
          <p:nvPr/>
        </p:nvSpPr>
        <p:spPr>
          <a:xfrm>
            <a:off x="2560320" y="1737360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D7F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9D7FE"/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2"/>
          <p:cNvSpPr/>
          <p:nvPr/>
        </p:nvSpPr>
        <p:spPr>
          <a:xfrm>
            <a:off x="4773168" y="1737360"/>
            <a:ext cx="2029968" cy="384048"/>
          </a:xfrm>
          <a:prstGeom prst="roundRect">
            <a:avLst>
              <a:gd fmla="val 50000" name="adj"/>
            </a:avLst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32"/>
          <p:cNvSpPr/>
          <p:nvPr/>
        </p:nvSpPr>
        <p:spPr>
          <a:xfrm>
            <a:off x="4773168" y="1737360"/>
            <a:ext cx="20299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D7FE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9D7FE"/>
                </a:solidFill>
                <a:latin typeface="Arial"/>
                <a:ea typeface="Arial"/>
                <a:cs typeface="Arial"/>
                <a:sym typeface="Arial"/>
              </a:rPr>
              <a:t>Testes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2"/>
          <p:cNvSpPr/>
          <p:nvPr/>
        </p:nvSpPr>
        <p:spPr>
          <a:xfrm>
            <a:off x="457200" y="2331720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Revisem os objetivos de aprendizagem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2"/>
          <p:cNvSpPr/>
          <p:nvPr/>
        </p:nvSpPr>
        <p:spPr>
          <a:xfrm>
            <a:off x="6217920" y="2331720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Revisem a modelagem proposta pelo grupo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2"/>
          <p:cNvSpPr/>
          <p:nvPr/>
        </p:nvSpPr>
        <p:spPr>
          <a:xfrm>
            <a:off x="457200" y="2715768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Implementem ou ajustem Models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2"/>
          <p:cNvSpPr/>
          <p:nvPr/>
        </p:nvSpPr>
        <p:spPr>
          <a:xfrm>
            <a:off x="6217920" y="2715768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Executem migrations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2"/>
          <p:cNvSpPr/>
          <p:nvPr/>
        </p:nvSpPr>
        <p:spPr>
          <a:xfrm>
            <a:off x="457200" y="3099816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Utilizem ORM para testar persistência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2"/>
          <p:cNvSpPr/>
          <p:nvPr/>
        </p:nvSpPr>
        <p:spPr>
          <a:xfrm>
            <a:off x="6217920" y="3099816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6.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Estruturem rotas e Views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2"/>
          <p:cNvSpPr/>
          <p:nvPr/>
        </p:nvSpPr>
        <p:spPr>
          <a:xfrm>
            <a:off x="457200" y="3483864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7.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Implementem operações CRUD necessárias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2"/>
          <p:cNvSpPr/>
          <p:nvPr/>
        </p:nvSpPr>
        <p:spPr>
          <a:xfrm>
            <a:off x="6217920" y="3483864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8.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Apliquem as regras do problema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2"/>
          <p:cNvSpPr/>
          <p:nvPr/>
        </p:nvSpPr>
        <p:spPr>
          <a:xfrm>
            <a:off x="457200" y="3867912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9.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Testem os principais cenários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2"/>
          <p:cNvSpPr/>
          <p:nvPr/>
        </p:nvSpPr>
        <p:spPr>
          <a:xfrm>
            <a:off x="6217920" y="3867912"/>
            <a:ext cx="5394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10.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Atualizem o Board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2"/>
          <p:cNvSpPr/>
          <p:nvPr/>
        </p:nvSpPr>
        <p:spPr>
          <a:xfrm>
            <a:off x="457200" y="4434840"/>
            <a:ext cx="11277295" cy="731520"/>
          </a:xfrm>
          <a:prstGeom prst="roundRect">
            <a:avLst>
              <a:gd fmla="val 12500" name="adj"/>
            </a:avLst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32"/>
          <p:cNvSpPr/>
          <p:nvPr/>
        </p:nvSpPr>
        <p:spPr>
          <a:xfrm>
            <a:off x="822960" y="4434840"/>
            <a:ext cx="105430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D7F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9D7FE"/>
                </a:solidFill>
                <a:latin typeface="Arial"/>
                <a:ea typeface="Arial"/>
                <a:cs typeface="Arial"/>
                <a:sym typeface="Arial"/>
              </a:rPr>
              <a:t>NÃO BASTA FUNCIONAR.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2"/>
          <p:cNvSpPr/>
          <p:nvPr/>
        </p:nvSpPr>
        <p:spPr>
          <a:xfrm>
            <a:off x="457200" y="5303520"/>
            <a:ext cx="11277295" cy="914400"/>
          </a:xfrm>
          <a:prstGeom prst="roundRect">
            <a:avLst>
              <a:gd fmla="val 10000" name="adj"/>
            </a:avLst>
          </a:prstGeom>
          <a:solidFill>
            <a:srgbClr val="6E23E7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2"/>
          <p:cNvSpPr/>
          <p:nvPr/>
        </p:nvSpPr>
        <p:spPr>
          <a:xfrm>
            <a:off x="822960" y="5303520"/>
            <a:ext cx="1054303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EQUIPE PRECISA CONSEGUIR JUSTIFICAR AS DECISÕES TÉCNICAS.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2"/>
          <p:cNvSpPr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A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AB8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Etapa II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2"/>
          <p:cNvSpPr/>
          <p:nvPr/>
        </p:nvSpPr>
        <p:spPr>
          <a:xfrm>
            <a:off x="11338560" y="6537960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A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AB8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